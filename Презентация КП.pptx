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72" r:id="rId4"/>
    <p:sldId id="262" r:id="rId5"/>
    <p:sldId id="269" r:id="rId6"/>
    <p:sldId id="270" r:id="rId7"/>
    <p:sldId id="263" r:id="rId8"/>
    <p:sldId id="266" r:id="rId9"/>
    <p:sldId id="264" r:id="rId10"/>
    <p:sldId id="265" r:id="rId11"/>
    <p:sldId id="273" r:id="rId12"/>
    <p:sldId id="274" r:id="rId13"/>
    <p:sldId id="275" r:id="rId1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2" autoAdjust="0"/>
    <p:restoredTop sz="94660"/>
  </p:normalViewPr>
  <p:slideViewPr>
    <p:cSldViewPr snapToGrid="0">
      <p:cViewPr varScale="1">
        <p:scale>
          <a:sx n="73" d="100"/>
          <a:sy n="73" d="100"/>
        </p:scale>
        <p:origin x="4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ru-RU" smtClean="0"/>
              <a:t>Образец заголовка</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C379E482-EED8-4194-A51D-8FA04866E7E7}" type="datetimeFigureOut">
              <a:rPr lang="ru-RU" smtClean="0"/>
              <a:t>05.04.2021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EE36D91-865F-43A3-8518-8748020F99E6}" type="slidenum">
              <a:rPr lang="ru-RU" smtClean="0"/>
              <a:t>‹#›</a:t>
            </a:fld>
            <a:endParaRPr lang="ru-RU"/>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66431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nchor="ct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C379E482-EED8-4194-A51D-8FA04866E7E7}" type="datetimeFigureOut">
              <a:rPr lang="ru-RU" smtClean="0"/>
              <a:t>05.04.2021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EE36D91-865F-43A3-8518-8748020F99E6}" type="slidenum">
              <a:rPr lang="ru-RU" smtClean="0"/>
              <a:t>‹#›</a:t>
            </a:fld>
            <a:endParaRPr lang="ru-RU"/>
          </a:p>
        </p:txBody>
      </p:sp>
    </p:spTree>
    <p:extLst>
      <p:ext uri="{BB962C8B-B14F-4D97-AF65-F5344CB8AC3E}">
        <p14:creationId xmlns:p14="http://schemas.microsoft.com/office/powerpoint/2010/main" val="2709529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ru-RU" smtClean="0"/>
              <a:t>Образец заголовка</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C379E482-EED8-4194-A51D-8FA04866E7E7}" type="datetimeFigureOut">
              <a:rPr lang="ru-RU" smtClean="0"/>
              <a:t>05.04.2021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EE36D91-865F-43A3-8518-8748020F99E6}" type="slidenum">
              <a:rPr lang="ru-RU" smtClean="0"/>
              <a:t>‹#›</a:t>
            </a:fld>
            <a:endParaRPr lang="ru-RU"/>
          </a:p>
        </p:txBody>
      </p:sp>
    </p:spTree>
    <p:extLst>
      <p:ext uri="{BB962C8B-B14F-4D97-AF65-F5344CB8AC3E}">
        <p14:creationId xmlns:p14="http://schemas.microsoft.com/office/powerpoint/2010/main" val="1145959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C379E482-EED8-4194-A51D-8FA04866E7E7}" type="datetimeFigureOut">
              <a:rPr lang="ru-RU" smtClean="0"/>
              <a:t>05.04.2021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EE36D91-865F-43A3-8518-8748020F99E6}" type="slidenum">
              <a:rPr lang="ru-RU" smtClean="0"/>
              <a:t>‹#›</a:t>
            </a:fld>
            <a:endParaRPr lang="ru-RU"/>
          </a:p>
        </p:txBody>
      </p:sp>
    </p:spTree>
    <p:extLst>
      <p:ext uri="{BB962C8B-B14F-4D97-AF65-F5344CB8AC3E}">
        <p14:creationId xmlns:p14="http://schemas.microsoft.com/office/powerpoint/2010/main" val="2184958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C379E482-EED8-4194-A51D-8FA04866E7E7}" type="datetimeFigureOut">
              <a:rPr lang="ru-RU" smtClean="0"/>
              <a:t>05.04.2021</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8EE36D91-865F-43A3-8518-8748020F99E6}" type="slidenum">
              <a:rPr lang="ru-RU" smtClean="0"/>
              <a:t>‹#›</a:t>
            </a:fld>
            <a:endParaRPr lang="ru-RU"/>
          </a:p>
        </p:txBody>
      </p:sp>
    </p:spTree>
    <p:extLst>
      <p:ext uri="{BB962C8B-B14F-4D97-AF65-F5344CB8AC3E}">
        <p14:creationId xmlns:p14="http://schemas.microsoft.com/office/powerpoint/2010/main" val="3682122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C379E482-EED8-4194-A51D-8FA04866E7E7}" type="datetimeFigureOut">
              <a:rPr lang="ru-RU" smtClean="0"/>
              <a:t>05.04.2021</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8EE36D91-865F-43A3-8518-8748020F99E6}" type="slidenum">
              <a:rPr lang="ru-RU" smtClean="0"/>
              <a:t>‹#›</a:t>
            </a:fld>
            <a:endParaRPr lang="ru-RU"/>
          </a:p>
        </p:txBody>
      </p:sp>
    </p:spTree>
    <p:extLst>
      <p:ext uri="{BB962C8B-B14F-4D97-AF65-F5344CB8AC3E}">
        <p14:creationId xmlns:p14="http://schemas.microsoft.com/office/powerpoint/2010/main" val="4192665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79E482-EED8-4194-A51D-8FA04866E7E7}" type="datetimeFigureOut">
              <a:rPr lang="ru-RU" smtClean="0"/>
              <a:t>05.04.2021</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8EE36D91-865F-43A3-8518-8748020F99E6}" type="slidenum">
              <a:rPr lang="ru-RU" smtClean="0"/>
              <a:t>‹#›</a:t>
            </a:fld>
            <a:endParaRPr lang="ru-RU"/>
          </a:p>
        </p:txBody>
      </p:sp>
    </p:spTree>
    <p:extLst>
      <p:ext uri="{BB962C8B-B14F-4D97-AF65-F5344CB8AC3E}">
        <p14:creationId xmlns:p14="http://schemas.microsoft.com/office/powerpoint/2010/main" val="546738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C379E482-EED8-4194-A51D-8FA04866E7E7}" type="datetimeFigureOut">
              <a:rPr lang="ru-RU" smtClean="0"/>
              <a:t>05.04.2021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EE36D91-865F-43A3-8518-8748020F99E6}" type="slidenum">
              <a:rPr lang="ru-RU" smtClean="0"/>
              <a:t>‹#›</a:t>
            </a:fld>
            <a:endParaRPr lang="ru-RU"/>
          </a:p>
        </p:txBody>
      </p:sp>
    </p:spTree>
    <p:extLst>
      <p:ext uri="{BB962C8B-B14F-4D97-AF65-F5344CB8AC3E}">
        <p14:creationId xmlns:p14="http://schemas.microsoft.com/office/powerpoint/2010/main" val="3899864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ru-RU" smtClean="0"/>
              <a:t>Образец заголовка</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C379E482-EED8-4194-A51D-8FA04866E7E7}" type="datetimeFigureOut">
              <a:rPr lang="ru-RU" smtClean="0"/>
              <a:t>05.04.2021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EE36D91-865F-43A3-8518-8748020F99E6}" type="slidenum">
              <a:rPr lang="ru-RU" smtClean="0"/>
              <a:t>‹#›</a:t>
            </a:fld>
            <a:endParaRPr lang="ru-RU"/>
          </a:p>
        </p:txBody>
      </p:sp>
    </p:spTree>
    <p:extLst>
      <p:ext uri="{BB962C8B-B14F-4D97-AF65-F5344CB8AC3E}">
        <p14:creationId xmlns:p14="http://schemas.microsoft.com/office/powerpoint/2010/main" val="2016843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Date Placeholder 2"/>
          <p:cNvSpPr>
            <a:spLocks noGrp="1"/>
          </p:cNvSpPr>
          <p:nvPr>
            <p:ph type="dt" sz="half" idx="10"/>
          </p:nvPr>
        </p:nvSpPr>
        <p:spPr/>
        <p:txBody>
          <a:bodyPr/>
          <a:lstStyle/>
          <a:p>
            <a:fld id="{C379E482-EED8-4194-A51D-8FA04866E7E7}" type="datetimeFigureOut">
              <a:rPr lang="ru-RU" smtClean="0"/>
              <a:t>05.04.2021</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8EE36D91-865F-43A3-8518-8748020F99E6}" type="slidenum">
              <a:rPr lang="ru-RU" smtClean="0"/>
              <a:t>‹#›</a:t>
            </a:fld>
            <a:endParaRPr lang="ru-RU"/>
          </a:p>
        </p:txBody>
      </p:sp>
    </p:spTree>
    <p:extLst>
      <p:ext uri="{BB962C8B-B14F-4D97-AF65-F5344CB8AC3E}">
        <p14:creationId xmlns:p14="http://schemas.microsoft.com/office/powerpoint/2010/main" val="503488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ru-RU" smtClean="0"/>
              <a:t>Образец заголовка</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C379E482-EED8-4194-A51D-8FA04866E7E7}" type="datetimeFigureOut">
              <a:rPr lang="ru-RU" smtClean="0"/>
              <a:t>05.04.2021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EE36D91-865F-43A3-8518-8748020F99E6}" type="slidenum">
              <a:rPr lang="ru-RU" smtClean="0"/>
              <a:t>‹#›</a:t>
            </a:fld>
            <a:endParaRPr lang="ru-RU"/>
          </a:p>
        </p:txBody>
      </p:sp>
    </p:spTree>
    <p:extLst>
      <p:ext uri="{BB962C8B-B14F-4D97-AF65-F5344CB8AC3E}">
        <p14:creationId xmlns:p14="http://schemas.microsoft.com/office/powerpoint/2010/main" val="3246209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ru-RU" smtClean="0"/>
              <a:t>Образец заголовка</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C379E482-EED8-4194-A51D-8FA04866E7E7}" type="datetimeFigureOut">
              <a:rPr lang="ru-RU" smtClean="0"/>
              <a:t>05.04.2021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EE36D91-865F-43A3-8518-8748020F99E6}" type="slidenum">
              <a:rPr lang="ru-RU" smtClean="0"/>
              <a:t>‹#›</a:t>
            </a:fld>
            <a:endParaRPr lang="ru-RU"/>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622857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ru-RU" smtClean="0"/>
              <a:t>Образец заголовка</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C379E482-EED8-4194-A51D-8FA04866E7E7}" type="datetimeFigureOut">
              <a:rPr lang="ru-RU" smtClean="0"/>
              <a:t>05.04.2021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EE36D91-865F-43A3-8518-8748020F99E6}" type="slidenum">
              <a:rPr lang="ru-RU" smtClean="0"/>
              <a:t>‹#›</a:t>
            </a:fld>
            <a:endParaRPr lang="ru-RU"/>
          </a:p>
        </p:txBody>
      </p:sp>
    </p:spTree>
    <p:extLst>
      <p:ext uri="{BB962C8B-B14F-4D97-AF65-F5344CB8AC3E}">
        <p14:creationId xmlns:p14="http://schemas.microsoft.com/office/powerpoint/2010/main" val="38113222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ru-RU" smtClean="0"/>
              <a:t>Образец заголовка</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ru-RU" smtClean="0"/>
              <a:t>Образец текста</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C379E482-EED8-4194-A51D-8FA04866E7E7}" type="datetimeFigureOut">
              <a:rPr lang="ru-RU" smtClean="0"/>
              <a:t>05.04.2021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EE36D91-865F-43A3-8518-8748020F99E6}" type="slidenum">
              <a:rPr lang="ru-RU" smtClean="0"/>
              <a:t>‹#›</a:t>
            </a:fld>
            <a:endParaRPr lang="ru-RU"/>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870229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ru-RU" smtClean="0"/>
              <a:t>Образец заголовка</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ru-RU" smtClean="0"/>
              <a:t>Образец текста</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C379E482-EED8-4194-A51D-8FA04866E7E7}" type="datetimeFigureOut">
              <a:rPr lang="ru-RU" smtClean="0"/>
              <a:t>05.04.2021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EE36D91-865F-43A3-8518-8748020F99E6}" type="slidenum">
              <a:rPr lang="ru-RU" smtClean="0"/>
              <a:t>‹#›</a:t>
            </a:fld>
            <a:endParaRPr lang="ru-RU"/>
          </a:p>
        </p:txBody>
      </p:sp>
    </p:spTree>
    <p:extLst>
      <p:ext uri="{BB962C8B-B14F-4D97-AF65-F5344CB8AC3E}">
        <p14:creationId xmlns:p14="http://schemas.microsoft.com/office/powerpoint/2010/main" val="1865678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C379E482-EED8-4194-A51D-8FA04866E7E7}" type="datetimeFigureOut">
              <a:rPr lang="ru-RU" smtClean="0"/>
              <a:t>05.04.2021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EE36D91-865F-43A3-8518-8748020F99E6}" type="slidenum">
              <a:rPr lang="ru-RU" smtClean="0"/>
              <a:t>‹#›</a:t>
            </a:fld>
            <a:endParaRPr lang="ru-RU"/>
          </a:p>
        </p:txBody>
      </p:sp>
    </p:spTree>
    <p:extLst>
      <p:ext uri="{BB962C8B-B14F-4D97-AF65-F5344CB8AC3E}">
        <p14:creationId xmlns:p14="http://schemas.microsoft.com/office/powerpoint/2010/main" val="1367167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C379E482-EED8-4194-A51D-8FA04866E7E7}" type="datetimeFigureOut">
              <a:rPr lang="ru-RU" smtClean="0"/>
              <a:t>05.04.2021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EE36D91-865F-43A3-8518-8748020F99E6}" type="slidenum">
              <a:rPr lang="ru-RU" smtClean="0"/>
              <a:t>‹#›</a:t>
            </a:fld>
            <a:endParaRPr lang="ru-RU"/>
          </a:p>
        </p:txBody>
      </p:sp>
    </p:spTree>
    <p:extLst>
      <p:ext uri="{BB962C8B-B14F-4D97-AF65-F5344CB8AC3E}">
        <p14:creationId xmlns:p14="http://schemas.microsoft.com/office/powerpoint/2010/main" val="1099572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C379E482-EED8-4194-A51D-8FA04866E7E7}" type="datetimeFigureOut">
              <a:rPr lang="ru-RU" smtClean="0"/>
              <a:t>05.04.2021</a:t>
            </a:fld>
            <a:endParaRPr lang="ru-RU"/>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ru-RU"/>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8EE36D91-865F-43A3-8518-8748020F99E6}" type="slidenum">
              <a:rPr lang="ru-RU" smtClean="0"/>
              <a:t>‹#›</a:t>
            </a:fld>
            <a:endParaRPr lang="ru-RU"/>
          </a:p>
        </p:txBody>
      </p:sp>
    </p:spTree>
    <p:extLst>
      <p:ext uri="{BB962C8B-B14F-4D97-AF65-F5344CB8AC3E}">
        <p14:creationId xmlns:p14="http://schemas.microsoft.com/office/powerpoint/2010/main" val="32811228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0" y="0"/>
            <a:ext cx="12191999" cy="5347855"/>
          </a:xfrm>
        </p:spPr>
        <p:txBody>
          <a:bodyPr>
            <a:normAutofit/>
          </a:bodyPr>
          <a:lstStyle/>
          <a:p>
            <a:pPr>
              <a:lnSpc>
                <a:spcPct val="100000"/>
              </a:lnSpc>
            </a:pP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Министерство науки и высшего образования Российской Федерации</a:t>
            </a:r>
            <a:br>
              <a:rPr lang="ru-RU" sz="20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Федеральное государственное бюджетное образовательное</a:t>
            </a:r>
            <a:br>
              <a:rPr lang="ru-RU" sz="20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учреждение высшего образования</a:t>
            </a:r>
            <a:br>
              <a:rPr lang="ru-RU" sz="20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«Российский экономический университет имени Г.В. Плеханова»</a:t>
            </a:r>
            <a:br>
              <a:rPr lang="ru-RU" sz="20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МОСКОВСКИЙ ПРИБОРОСТРОИТЕЛЬНЫЙ ТЕХНИКУМ</a:t>
            </a:r>
            <a:r>
              <a:rPr lang="ru-RU" sz="2400" dirty="0">
                <a:latin typeface="Times New Roman" panose="02020603050405020304" pitchFamily="18" charset="0"/>
                <a:cs typeface="Times New Roman" panose="02020603050405020304" pitchFamily="18" charset="0"/>
              </a:rPr>
              <a:t/>
            </a:r>
            <a:br>
              <a:rPr lang="ru-RU" sz="2400" dirty="0">
                <a:latin typeface="Times New Roman" panose="02020603050405020304" pitchFamily="18" charset="0"/>
                <a:cs typeface="Times New Roman" panose="02020603050405020304" pitchFamily="18" charset="0"/>
              </a:rPr>
            </a:br>
            <a:r>
              <a:rPr lang="ru-RU" sz="2400" dirty="0">
                <a:latin typeface="Times New Roman" panose="02020603050405020304" pitchFamily="18" charset="0"/>
                <a:cs typeface="Times New Roman" panose="02020603050405020304" pitchFamily="18" charset="0"/>
              </a:rPr>
              <a:t/>
            </a:r>
            <a:br>
              <a:rPr lang="ru-RU"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Презентация</a:t>
            </a: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Курсовой проект</a:t>
            </a:r>
            <a:br>
              <a:rPr lang="ru-RU" sz="20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ПМ 04 «Обеспечение проектной деятельности»</a:t>
            </a:r>
            <a:br>
              <a:rPr lang="ru-RU" sz="2000" dirty="0">
                <a:latin typeface="Times New Roman" panose="02020603050405020304" pitchFamily="18" charset="0"/>
                <a:cs typeface="Times New Roman" panose="02020603050405020304" pitchFamily="18" charset="0"/>
              </a:rPr>
            </a:br>
            <a:r>
              <a:rPr lang="ru-RU" sz="2000" dirty="0">
                <a:latin typeface="Times New Roman" panose="02020603050405020304" pitchFamily="18" charset="0"/>
                <a:cs typeface="Times New Roman" panose="02020603050405020304" pitchFamily="18" charset="0"/>
              </a:rPr>
              <a:t>МДК 04</a:t>
            </a:r>
            <a:r>
              <a:rPr lang="en-US" sz="2000" dirty="0">
                <a:latin typeface="Times New Roman" panose="02020603050405020304" pitchFamily="18" charset="0"/>
                <a:cs typeface="Times New Roman" panose="02020603050405020304" pitchFamily="18" charset="0"/>
              </a:rPr>
              <a:t>.01 </a:t>
            </a:r>
            <a:r>
              <a:rPr lang="ru-RU" sz="2000" dirty="0">
                <a:latin typeface="Times New Roman" panose="02020603050405020304" pitchFamily="18" charset="0"/>
                <a:cs typeface="Times New Roman" panose="02020603050405020304" pitchFamily="18" charset="0"/>
              </a:rPr>
              <a:t>«Обеспечение проектной деятельности»</a:t>
            </a:r>
            <a:r>
              <a:rPr lang="ru-RU" sz="2400" dirty="0">
                <a:latin typeface="Times New Roman" panose="02020603050405020304" pitchFamily="18" charset="0"/>
                <a:cs typeface="Times New Roman" panose="02020603050405020304" pitchFamily="18" charset="0"/>
              </a:rPr>
              <a:t/>
            </a:r>
            <a:br>
              <a:rPr lang="ru-RU" sz="2400" dirty="0">
                <a:latin typeface="Times New Roman" panose="02020603050405020304" pitchFamily="18" charset="0"/>
                <a:cs typeface="Times New Roman" panose="02020603050405020304" pitchFamily="18" charset="0"/>
              </a:rPr>
            </a:br>
            <a:r>
              <a:rPr lang="ru-RU" sz="2400" dirty="0">
                <a:latin typeface="Times New Roman" panose="02020603050405020304" pitchFamily="18" charset="0"/>
                <a:cs typeface="Times New Roman" panose="02020603050405020304" pitchFamily="18" charset="0"/>
              </a:rPr>
              <a:t/>
            </a:r>
            <a:br>
              <a:rPr lang="ru-RU"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ru-RU" sz="2400" dirty="0">
                <a:latin typeface="Times New Roman" panose="02020603050405020304" pitchFamily="18" charset="0"/>
                <a:cs typeface="Times New Roman" panose="02020603050405020304" pitchFamily="18" charset="0"/>
              </a:rPr>
              <a:t>Тема: </a:t>
            </a:r>
            <a:r>
              <a:rPr lang="ru-RU" sz="2000" dirty="0">
                <a:latin typeface="Times New Roman" panose="02020603050405020304" pitchFamily="18" charset="0"/>
                <a:cs typeface="Times New Roman" panose="02020603050405020304" pitchFamily="18" charset="0"/>
              </a:rPr>
              <a:t>«</a:t>
            </a:r>
            <a:r>
              <a:rPr lang="ru-RU" sz="2000" spc="15" dirty="0">
                <a:effectLst/>
                <a:latin typeface="Times New Roman" panose="02020603050405020304" pitchFamily="18" charset="0"/>
                <a:ea typeface="Calibri" panose="020F0502020204030204" pitchFamily="34" charset="0"/>
              </a:rPr>
              <a:t>Разработка проекта </a:t>
            </a:r>
            <a:r>
              <a:rPr lang="ru-RU" sz="2000" spc="15" dirty="0" smtClean="0">
                <a:latin typeface="Times New Roman" panose="02020603050405020304" pitchFamily="18" charset="0"/>
                <a:ea typeface="Calibri" panose="020F0502020204030204" pitchFamily="34" charset="0"/>
              </a:rPr>
              <a:t>«Усовершенствование системы успеваемости студентов техникума»</a:t>
            </a:r>
            <a:r>
              <a:rPr lang="ru-RU" sz="2000" spc="15" dirty="0" smtClean="0">
                <a:effectLst/>
                <a:latin typeface="Times New Roman" panose="02020603050405020304" pitchFamily="18" charset="0"/>
                <a:ea typeface="Calibri" panose="020F0502020204030204" pitchFamily="34" charset="0"/>
              </a:rPr>
              <a:t>»</a:t>
            </a:r>
            <a:endParaRPr lang="ru-RU" sz="1600" dirty="0">
              <a:latin typeface="Times New Roman" panose="02020603050405020304" pitchFamily="18" charset="0"/>
              <a:cs typeface="Times New Roman" panose="02020603050405020304" pitchFamily="18" charset="0"/>
            </a:endParaRPr>
          </a:p>
        </p:txBody>
      </p:sp>
      <p:sp>
        <p:nvSpPr>
          <p:cNvPr id="3" name="Подзаголовок 2"/>
          <p:cNvSpPr>
            <a:spLocks noGrp="1"/>
          </p:cNvSpPr>
          <p:nvPr>
            <p:ph type="subTitle" idx="1"/>
          </p:nvPr>
        </p:nvSpPr>
        <p:spPr>
          <a:xfrm>
            <a:off x="8497456" y="5347855"/>
            <a:ext cx="3694544" cy="1510145"/>
          </a:xfrm>
        </p:spPr>
        <p:txBody>
          <a:bodyPr>
            <a:noAutofit/>
          </a:bodyPr>
          <a:lstStyle/>
          <a:p>
            <a:pPr algn="r"/>
            <a:r>
              <a:rPr lang="ru-RU" sz="2000" dirty="0">
                <a:solidFill>
                  <a:schemeClr val="tx1"/>
                </a:solidFill>
                <a:latin typeface="Times New Roman" panose="02020603050405020304" pitchFamily="18" charset="0"/>
                <a:cs typeface="Times New Roman" panose="02020603050405020304" pitchFamily="18" charset="0"/>
              </a:rPr>
              <a:t>Выполнил</a:t>
            </a:r>
            <a:endParaRPr lang="en-US" sz="2000" dirty="0">
              <a:solidFill>
                <a:schemeClr val="tx1"/>
              </a:solidFill>
              <a:latin typeface="Times New Roman" panose="02020603050405020304" pitchFamily="18" charset="0"/>
              <a:cs typeface="Times New Roman" panose="02020603050405020304" pitchFamily="18" charset="0"/>
            </a:endParaRPr>
          </a:p>
          <a:p>
            <a:pPr algn="r"/>
            <a:r>
              <a:rPr lang="ru-RU" sz="2000" dirty="0" smtClean="0">
                <a:solidFill>
                  <a:schemeClr val="tx1"/>
                </a:solidFill>
                <a:latin typeface="Times New Roman" panose="02020603050405020304" pitchFamily="18" charset="0"/>
                <a:cs typeface="Times New Roman" panose="02020603050405020304" pitchFamily="18" charset="0"/>
              </a:rPr>
              <a:t>Темченко Денис Игоревич</a:t>
            </a:r>
            <a:endParaRPr lang="ru-RU" sz="2000" dirty="0">
              <a:solidFill>
                <a:schemeClr val="tx1"/>
              </a:solidFill>
              <a:latin typeface="Times New Roman" panose="02020603050405020304" pitchFamily="18" charset="0"/>
              <a:cs typeface="Times New Roman" panose="02020603050405020304" pitchFamily="18" charset="0"/>
            </a:endParaRPr>
          </a:p>
          <a:p>
            <a:pPr algn="r"/>
            <a:r>
              <a:rPr lang="ru-RU" sz="2000" dirty="0">
                <a:solidFill>
                  <a:schemeClr val="tx1"/>
                </a:solidFill>
                <a:latin typeface="Times New Roman" panose="02020603050405020304" pitchFamily="18" charset="0"/>
                <a:cs typeface="Times New Roman" panose="02020603050405020304" pitchFamily="18" charset="0"/>
              </a:rPr>
              <a:t>Студент группы И-3-17</a:t>
            </a:r>
          </a:p>
        </p:txBody>
      </p:sp>
    </p:spTree>
    <p:extLst>
      <p:ext uri="{BB962C8B-B14F-4D97-AF65-F5344CB8AC3E}">
        <p14:creationId xmlns:p14="http://schemas.microsoft.com/office/powerpoint/2010/main" val="3681778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12192000" cy="1219200"/>
          </a:xfrm>
        </p:spPr>
        <p:txBody>
          <a:bodyPr>
            <a:normAutofit/>
          </a:bodyPr>
          <a:lstStyle/>
          <a:p>
            <a:pPr algn="ctr"/>
            <a:r>
              <a:rPr lang="ru-RU" sz="3600" b="1" dirty="0" smtClean="0">
                <a:latin typeface="Times New Roman" panose="02020603050405020304" pitchFamily="18" charset="0"/>
                <a:cs typeface="Times New Roman" panose="02020603050405020304" pitchFamily="18" charset="0"/>
              </a:rPr>
              <a:t>Проблемная ситуация</a:t>
            </a:r>
            <a:endParaRPr lang="ru-RU" sz="3600" b="1" dirty="0">
              <a:latin typeface="Times New Roman" panose="02020603050405020304" pitchFamily="18" charset="0"/>
              <a:cs typeface="Times New Roman" panose="02020603050405020304" pitchFamily="18" charset="0"/>
            </a:endParaRPr>
          </a:p>
        </p:txBody>
      </p:sp>
      <p:sp>
        <p:nvSpPr>
          <p:cNvPr id="5" name="Объект 4"/>
          <p:cNvSpPr>
            <a:spLocks noGrp="1"/>
          </p:cNvSpPr>
          <p:nvPr>
            <p:ph idx="1"/>
          </p:nvPr>
        </p:nvSpPr>
        <p:spPr/>
        <p:txBody>
          <a:bodyPr/>
          <a:lstStyle/>
          <a:p>
            <a:endParaRPr lang="ru-RU"/>
          </a:p>
        </p:txBody>
      </p:sp>
      <p:sp>
        <p:nvSpPr>
          <p:cNvPr id="6" name="AutoShape 4" descr="https://www.filmofilia.com/wp-content/uploads/2012/04/Titanic-TheFinalWord_CGI_0001.jp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30" name="Picture 6" descr="https://www.filmofilia.com/wp-content/uploads/2012/04/Titanic-TheFinalWord_CGI_00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11274"/>
            <a:ext cx="12192000" cy="5546726"/>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2471738" y="3078162"/>
            <a:ext cx="2543175" cy="685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1"/>
                </a:solidFill>
                <a:latin typeface="Times New Roman" panose="02020603050405020304" pitchFamily="18" charset="0"/>
                <a:cs typeface="Times New Roman" panose="02020603050405020304" pitchFamily="18" charset="0"/>
              </a:rPr>
              <a:t>Успеваемость студентов</a:t>
            </a:r>
            <a:endParaRPr lang="ru-RU" dirty="0">
              <a:solidFill>
                <a:schemeClr val="bg1"/>
              </a:solidFill>
              <a:latin typeface="Times New Roman" panose="02020603050405020304" pitchFamily="18" charset="0"/>
              <a:cs typeface="Times New Roman" panose="02020603050405020304" pitchFamily="18" charset="0"/>
            </a:endParaRPr>
          </a:p>
        </p:txBody>
      </p:sp>
      <p:sp>
        <p:nvSpPr>
          <p:cNvPr id="10" name="Прямоугольник 9"/>
          <p:cNvSpPr/>
          <p:nvPr/>
        </p:nvSpPr>
        <p:spPr>
          <a:xfrm>
            <a:off x="2324100" y="5324475"/>
            <a:ext cx="2543175" cy="685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1"/>
                </a:solidFill>
                <a:latin typeface="Times New Roman" panose="02020603050405020304" pitchFamily="18" charset="0"/>
                <a:cs typeface="Times New Roman" panose="02020603050405020304" pitchFamily="18" charset="0"/>
              </a:rPr>
              <a:t>Система образования РФ</a:t>
            </a:r>
            <a:endParaRPr lang="ru-RU" dirty="0">
              <a:solidFill>
                <a:schemeClr val="bg1"/>
              </a:solidFill>
              <a:latin typeface="Times New Roman" panose="02020603050405020304" pitchFamily="18" charset="0"/>
              <a:cs typeface="Times New Roman" panose="02020603050405020304" pitchFamily="18" charset="0"/>
            </a:endParaRPr>
          </a:p>
        </p:txBody>
      </p:sp>
      <p:sp>
        <p:nvSpPr>
          <p:cNvPr id="11" name="Прямоугольник 10"/>
          <p:cNvSpPr/>
          <p:nvPr/>
        </p:nvSpPr>
        <p:spPr>
          <a:xfrm>
            <a:off x="8232187" y="3315494"/>
            <a:ext cx="2543175" cy="6858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1"/>
                </a:solidFill>
                <a:latin typeface="Times New Roman" panose="02020603050405020304" pitchFamily="18" charset="0"/>
                <a:cs typeface="Times New Roman" panose="02020603050405020304" pitchFamily="18" charset="0"/>
              </a:rPr>
              <a:t>Возникновение глобальных проблем</a:t>
            </a:r>
            <a:endParaRPr lang="ru-RU"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06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48172" y="-103761"/>
            <a:ext cx="8534400" cy="1507067"/>
          </a:xfrm>
        </p:spPr>
        <p:txBody>
          <a:bodyPr/>
          <a:lstStyle/>
          <a:p>
            <a:pPr algn="ctr"/>
            <a:r>
              <a:rPr lang="ru-RU" b="1" dirty="0" smtClean="0">
                <a:latin typeface="Times New Roman" panose="02020603050405020304" pitchFamily="18" charset="0"/>
                <a:cs typeface="Times New Roman" panose="02020603050405020304" pitchFamily="18" charset="0"/>
              </a:rPr>
              <a:t>Глобальные проблемы</a:t>
            </a:r>
            <a:endParaRPr lang="ru-RU" dirty="0"/>
          </a:p>
        </p:txBody>
      </p:sp>
      <p:pic>
        <p:nvPicPr>
          <p:cNvPr id="1026" name="Picture 2" descr="https://avatars.mds.yandex.net/get-zen_doc/1593343/pub_5f22e5d76c45ec3edcd39761_5f22e5f9beee83530460a18f/scale_1200"/>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01818" y="1403306"/>
            <a:ext cx="4070320" cy="309344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1028" name="Picture 4" descr="https://cdn.iz.ru/sites/default/files/styles/1065x600/public/photo_item-2019-06/GettyImages-3287571.jpg?itok=c_LkAE7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1494" y="3049579"/>
            <a:ext cx="4070320" cy="309344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
        <p:nvSpPr>
          <p:cNvPr id="5" name="Прямоугольник 4"/>
          <p:cNvSpPr/>
          <p:nvPr/>
        </p:nvSpPr>
        <p:spPr>
          <a:xfrm>
            <a:off x="4497481" y="1690688"/>
            <a:ext cx="3698345"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latin typeface="Times New Roman" panose="02020603050405020304" pitchFamily="18" charset="0"/>
                <a:cs typeface="Times New Roman" panose="02020603050405020304" pitchFamily="18" charset="0"/>
              </a:rPr>
              <a:t>Технологическое отставание страны</a:t>
            </a:r>
            <a:endParaRPr lang="ru-RU" dirty="0">
              <a:solidFill>
                <a:schemeClr val="tx1"/>
              </a:solidFill>
              <a:latin typeface="Times New Roman" panose="02020603050405020304" pitchFamily="18" charset="0"/>
              <a:cs typeface="Times New Roman" panose="02020603050405020304" pitchFamily="18" charset="0"/>
            </a:endParaRPr>
          </a:p>
        </p:txBody>
      </p:sp>
      <p:sp>
        <p:nvSpPr>
          <p:cNvPr id="8" name="Прямоугольник 7"/>
          <p:cNvSpPr/>
          <p:nvPr/>
        </p:nvSpPr>
        <p:spPr>
          <a:xfrm>
            <a:off x="926524" y="5228621"/>
            <a:ext cx="2741023"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latin typeface="Times New Roman" panose="02020603050405020304" pitchFamily="18" charset="0"/>
                <a:cs typeface="Times New Roman" panose="02020603050405020304" pitchFamily="18" charset="0"/>
              </a:rPr>
              <a:t>Безработица</a:t>
            </a:r>
            <a:endParaRPr lang="ru-RU" dirty="0">
              <a:solidFill>
                <a:schemeClr val="tx1"/>
              </a:solidFill>
              <a:latin typeface="Times New Roman" panose="02020603050405020304" pitchFamily="18" charset="0"/>
              <a:cs typeface="Times New Roman" panose="02020603050405020304" pitchFamily="18" charset="0"/>
            </a:endParaRPr>
          </a:p>
        </p:txBody>
      </p:sp>
      <p:pic>
        <p:nvPicPr>
          <p:cNvPr id="1030" name="Picture 6" descr="https://blagoveshchensk.sm.news/wp-content/uploads/2020/06/08/01-8.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21170" y="1403306"/>
            <a:ext cx="3522804" cy="265924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
        <p:nvSpPr>
          <p:cNvPr id="10" name="Прямоугольник 9"/>
          <p:cNvSpPr/>
          <p:nvPr/>
        </p:nvSpPr>
        <p:spPr>
          <a:xfrm>
            <a:off x="9025761" y="5228621"/>
            <a:ext cx="2741023"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latin typeface="Times New Roman" panose="02020603050405020304" pitchFamily="18" charset="0"/>
                <a:cs typeface="Times New Roman" panose="02020603050405020304" pitchFamily="18" charset="0"/>
              </a:rPr>
              <a:t>Коррупция</a:t>
            </a:r>
            <a:endParaRPr lang="ru-RU"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24175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
            <a:ext cx="12192000" cy="1131454"/>
          </a:xfrm>
        </p:spPr>
        <p:txBody>
          <a:bodyPr>
            <a:normAutofit fontScale="90000"/>
          </a:bodyPr>
          <a:lstStyle/>
          <a:p>
            <a:pPr algn="ctr"/>
            <a:r>
              <a:rPr lang="ru-RU" sz="3600" b="1" dirty="0" smtClean="0">
                <a:latin typeface="Times New Roman" panose="02020603050405020304" pitchFamily="18" charset="0"/>
                <a:cs typeface="Times New Roman" panose="02020603050405020304" pitchFamily="18" charset="0"/>
              </a:rPr>
              <a:t>Из чего складывается успеваемость студентов</a:t>
            </a:r>
            <a:r>
              <a:rPr lang="en-US" sz="3600" b="1" dirty="0" smtClean="0">
                <a:latin typeface="Times New Roman" panose="02020603050405020304" pitchFamily="18" charset="0"/>
                <a:cs typeface="Times New Roman" panose="02020603050405020304" pitchFamily="18" charset="0"/>
              </a:rPr>
              <a:t>?</a:t>
            </a:r>
            <a:endParaRPr lang="ru-RU" sz="36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4558938" y="1136732"/>
            <a:ext cx="2612572" cy="90133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1"/>
                </a:solidFill>
              </a:rPr>
              <a:t>Успеваемость</a:t>
            </a:r>
            <a:endParaRPr lang="ru-RU" dirty="0">
              <a:solidFill>
                <a:schemeClr val="bg1"/>
              </a:solidFill>
            </a:endParaRPr>
          </a:p>
        </p:txBody>
      </p:sp>
      <p:sp>
        <p:nvSpPr>
          <p:cNvPr id="16" name="Прямоугольник 15"/>
          <p:cNvSpPr/>
          <p:nvPr/>
        </p:nvSpPr>
        <p:spPr>
          <a:xfrm>
            <a:off x="9344294" y="4667793"/>
            <a:ext cx="2612572" cy="90133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1"/>
                </a:solidFill>
              </a:rPr>
              <a:t>Методические материалы</a:t>
            </a:r>
            <a:endParaRPr lang="ru-RU" dirty="0">
              <a:solidFill>
                <a:schemeClr val="bg1"/>
              </a:solidFill>
            </a:endParaRPr>
          </a:p>
        </p:txBody>
      </p:sp>
      <p:sp>
        <p:nvSpPr>
          <p:cNvPr id="17" name="Прямоугольник 16"/>
          <p:cNvSpPr/>
          <p:nvPr/>
        </p:nvSpPr>
        <p:spPr>
          <a:xfrm>
            <a:off x="4558938" y="2701966"/>
            <a:ext cx="2612572" cy="90133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1"/>
                </a:solidFill>
              </a:rPr>
              <a:t>Мотивация</a:t>
            </a:r>
            <a:endParaRPr lang="ru-RU" dirty="0">
              <a:solidFill>
                <a:schemeClr val="bg1"/>
              </a:solidFill>
            </a:endParaRPr>
          </a:p>
        </p:txBody>
      </p:sp>
      <p:sp>
        <p:nvSpPr>
          <p:cNvPr id="18" name="Прямоугольник 17"/>
          <p:cNvSpPr/>
          <p:nvPr/>
        </p:nvSpPr>
        <p:spPr>
          <a:xfrm>
            <a:off x="6298473" y="4667793"/>
            <a:ext cx="2612572" cy="90133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1"/>
                </a:solidFill>
              </a:rPr>
              <a:t>Бюрократический аппарат ВУЗа</a:t>
            </a:r>
            <a:endParaRPr lang="ru-RU" dirty="0">
              <a:solidFill>
                <a:schemeClr val="bg1"/>
              </a:solidFill>
            </a:endParaRPr>
          </a:p>
        </p:txBody>
      </p:sp>
      <p:sp>
        <p:nvSpPr>
          <p:cNvPr id="19" name="Прямоугольник 18"/>
          <p:cNvSpPr/>
          <p:nvPr/>
        </p:nvSpPr>
        <p:spPr>
          <a:xfrm>
            <a:off x="3252652" y="4667793"/>
            <a:ext cx="2612572" cy="90133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1"/>
                </a:solidFill>
              </a:rPr>
              <a:t>Система обучения</a:t>
            </a:r>
            <a:endParaRPr lang="ru-RU" dirty="0">
              <a:solidFill>
                <a:schemeClr val="bg1"/>
              </a:solidFill>
            </a:endParaRPr>
          </a:p>
        </p:txBody>
      </p:sp>
      <p:sp>
        <p:nvSpPr>
          <p:cNvPr id="20" name="Прямоугольник 19"/>
          <p:cNvSpPr/>
          <p:nvPr/>
        </p:nvSpPr>
        <p:spPr>
          <a:xfrm>
            <a:off x="448492" y="4667793"/>
            <a:ext cx="2612572" cy="90133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1"/>
                </a:solidFill>
              </a:rPr>
              <a:t>Преподавательский состав</a:t>
            </a:r>
            <a:endParaRPr lang="ru-RU" dirty="0">
              <a:solidFill>
                <a:schemeClr val="bg1"/>
              </a:solidFill>
            </a:endParaRPr>
          </a:p>
        </p:txBody>
      </p:sp>
      <p:cxnSp>
        <p:nvCxnSpPr>
          <p:cNvPr id="22" name="Прямая со стрелкой 21"/>
          <p:cNvCxnSpPr>
            <a:stCxn id="20" idx="0"/>
            <a:endCxn id="17" idx="2"/>
          </p:cNvCxnSpPr>
          <p:nvPr/>
        </p:nvCxnSpPr>
        <p:spPr>
          <a:xfrm flipV="1">
            <a:off x="1754778" y="3603303"/>
            <a:ext cx="4110446" cy="10644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p:cNvCxnSpPr>
            <a:stCxn id="19" idx="0"/>
            <a:endCxn id="17" idx="2"/>
          </p:cNvCxnSpPr>
          <p:nvPr/>
        </p:nvCxnSpPr>
        <p:spPr>
          <a:xfrm flipV="1">
            <a:off x="4558938" y="3603303"/>
            <a:ext cx="1306286" cy="10644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Прямая со стрелкой 25"/>
          <p:cNvCxnSpPr>
            <a:stCxn id="18" idx="0"/>
            <a:endCxn id="17" idx="2"/>
          </p:cNvCxnSpPr>
          <p:nvPr/>
        </p:nvCxnSpPr>
        <p:spPr>
          <a:xfrm flipH="1" flipV="1">
            <a:off x="5865224" y="3603303"/>
            <a:ext cx="1739535" cy="10644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p:cNvCxnSpPr>
            <a:stCxn id="16" idx="0"/>
            <a:endCxn id="17" idx="2"/>
          </p:cNvCxnSpPr>
          <p:nvPr/>
        </p:nvCxnSpPr>
        <p:spPr>
          <a:xfrm flipH="1" flipV="1">
            <a:off x="5865224" y="3603303"/>
            <a:ext cx="4785356" cy="10644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29"/>
          <p:cNvCxnSpPr>
            <a:stCxn id="17" idx="0"/>
            <a:endCxn id="4" idx="2"/>
          </p:cNvCxnSpPr>
          <p:nvPr/>
        </p:nvCxnSpPr>
        <p:spPr>
          <a:xfrm flipV="1">
            <a:off x="5865224" y="2038069"/>
            <a:ext cx="0" cy="6638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Прямоугольник 13"/>
          <p:cNvSpPr/>
          <p:nvPr/>
        </p:nvSpPr>
        <p:spPr>
          <a:xfrm>
            <a:off x="9296394" y="2708035"/>
            <a:ext cx="2612572" cy="90133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bg1"/>
                </a:solidFill>
              </a:rPr>
              <a:t>Престижность ВУЗа</a:t>
            </a:r>
            <a:endParaRPr lang="ru-RU" dirty="0">
              <a:solidFill>
                <a:schemeClr val="bg1"/>
              </a:solidFill>
            </a:endParaRPr>
          </a:p>
        </p:txBody>
      </p:sp>
      <p:cxnSp>
        <p:nvCxnSpPr>
          <p:cNvPr id="21" name="Прямая со стрелкой 20"/>
          <p:cNvCxnSpPr>
            <a:stCxn id="14" idx="1"/>
            <a:endCxn id="17" idx="3"/>
          </p:cNvCxnSpPr>
          <p:nvPr/>
        </p:nvCxnSpPr>
        <p:spPr>
          <a:xfrm flipH="1" flipV="1">
            <a:off x="7171510" y="3152635"/>
            <a:ext cx="2124884" cy="60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8867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12192000" cy="951345"/>
          </a:xfrm>
        </p:spPr>
        <p:txBody>
          <a:bodyPr>
            <a:normAutofit/>
          </a:bodyPr>
          <a:lstStyle/>
          <a:p>
            <a:pPr algn="ctr"/>
            <a:r>
              <a:rPr lang="ru-RU" sz="3600" b="1" dirty="0" smtClean="0">
                <a:latin typeface="Times New Roman" panose="02020603050405020304" pitchFamily="18" charset="0"/>
                <a:cs typeface="Times New Roman" panose="02020603050405020304" pitchFamily="18" charset="0"/>
              </a:rPr>
              <a:t>Статистика ВУЗов</a:t>
            </a:r>
            <a:endParaRPr lang="ru-RU" sz="36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0" y="951345"/>
            <a:ext cx="12192000" cy="5906655"/>
          </a:xfrm>
        </p:spPr>
        <p:txBody>
          <a:bodyPr>
            <a:normAutofit/>
          </a:bodyPr>
          <a:lstStyle/>
          <a:p>
            <a:pPr marL="0" indent="0" algn="just">
              <a:buNone/>
            </a:pPr>
            <a:r>
              <a:rPr lang="ru-RU" dirty="0">
                <a:latin typeface="Times New Roman" panose="02020603050405020304" pitchFamily="18" charset="0"/>
                <a:cs typeface="Times New Roman" panose="02020603050405020304" pitchFamily="18" charset="0"/>
              </a:rPr>
              <a:t>	</a:t>
            </a:r>
            <a:endParaRPr lang="ru-RU" dirty="0"/>
          </a:p>
        </p:txBody>
      </p:sp>
      <p:pic>
        <p:nvPicPr>
          <p:cNvPr id="6" name="Рисунок 5"/>
          <p:cNvPicPr/>
          <p:nvPr/>
        </p:nvPicPr>
        <p:blipFill>
          <a:blip r:embed="rId2"/>
          <a:stretch>
            <a:fillRect/>
          </a:stretch>
        </p:blipFill>
        <p:spPr>
          <a:xfrm>
            <a:off x="299267" y="1046302"/>
            <a:ext cx="5134882" cy="290571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Рисунок 6"/>
          <p:cNvPicPr>
            <a:picLocks noChangeAspect="1"/>
          </p:cNvPicPr>
          <p:nvPr/>
        </p:nvPicPr>
        <p:blipFill>
          <a:blip r:embed="rId3"/>
          <a:stretch>
            <a:fillRect/>
          </a:stretch>
        </p:blipFill>
        <p:spPr>
          <a:xfrm>
            <a:off x="5568501" y="1046302"/>
            <a:ext cx="6489147" cy="290571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Рисунок 7"/>
          <p:cNvPicPr/>
          <p:nvPr/>
        </p:nvPicPr>
        <p:blipFill rotWithShape="1">
          <a:blip r:embed="rId4"/>
          <a:srcRect t="9752" r="2206" b="21418"/>
          <a:stretch/>
        </p:blipFill>
        <p:spPr>
          <a:xfrm>
            <a:off x="799238" y="4144443"/>
            <a:ext cx="6058762" cy="252113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Рисунок 8"/>
          <p:cNvPicPr/>
          <p:nvPr/>
        </p:nvPicPr>
        <p:blipFill rotWithShape="1">
          <a:blip r:embed="rId5"/>
          <a:srcRect t="6704"/>
          <a:stretch/>
        </p:blipFill>
        <p:spPr>
          <a:xfrm>
            <a:off x="7040880" y="4676503"/>
            <a:ext cx="5016768" cy="129322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50128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12192000" cy="895927"/>
          </a:xfrm>
        </p:spPr>
        <p:txBody>
          <a:bodyPr>
            <a:normAutofit/>
          </a:bodyPr>
          <a:lstStyle/>
          <a:p>
            <a:pPr algn="ctr"/>
            <a:r>
              <a:rPr lang="ru-RU" sz="3600" b="1" dirty="0">
                <a:latin typeface="Times New Roman" panose="02020603050405020304" pitchFamily="18" charset="0"/>
                <a:cs typeface="Times New Roman" panose="02020603050405020304" pitchFamily="18" charset="0"/>
              </a:rPr>
              <a:t>Цели проекта</a:t>
            </a:r>
            <a:endParaRPr lang="ru-RU" sz="3600" dirty="0"/>
          </a:p>
        </p:txBody>
      </p:sp>
      <p:sp>
        <p:nvSpPr>
          <p:cNvPr id="3" name="Объект 2"/>
          <p:cNvSpPr>
            <a:spLocks noGrp="1"/>
          </p:cNvSpPr>
          <p:nvPr>
            <p:ph idx="1"/>
          </p:nvPr>
        </p:nvSpPr>
        <p:spPr>
          <a:xfrm>
            <a:off x="287382" y="895927"/>
            <a:ext cx="12192000" cy="5962073"/>
          </a:xfrm>
        </p:spPr>
        <p:txBody>
          <a:bodyPr>
            <a:normAutofit/>
          </a:bodyPr>
          <a:lstStyle/>
          <a:p>
            <a:pPr marL="0" indent="0">
              <a:buNone/>
            </a:pPr>
            <a:r>
              <a:rPr lang="ru-RU" sz="2400" dirty="0">
                <a:solidFill>
                  <a:schemeClr val="tx1"/>
                </a:solidFill>
                <a:latin typeface="Times New Roman" panose="02020603050405020304" pitchFamily="18" charset="0"/>
                <a:cs typeface="Times New Roman" panose="02020603050405020304" pitchFamily="18" charset="0"/>
              </a:rPr>
              <a:t>Генеральная цель: </a:t>
            </a:r>
          </a:p>
          <a:p>
            <a:pPr marL="0" indent="0">
              <a:buNone/>
            </a:pPr>
            <a:r>
              <a:rPr lang="ru-RU" sz="2400" dirty="0">
                <a:solidFill>
                  <a:schemeClr val="tx1"/>
                </a:solidFill>
                <a:latin typeface="Times New Roman" panose="02020603050405020304" pitchFamily="18" charset="0"/>
                <a:cs typeface="Times New Roman" panose="02020603050405020304" pitchFamily="18" charset="0"/>
              </a:rPr>
              <a:t>Усовершенствование системы успеваемости студентов.</a:t>
            </a:r>
          </a:p>
          <a:p>
            <a:pPr marL="0" indent="0">
              <a:buNone/>
            </a:pPr>
            <a:r>
              <a:rPr lang="ru-RU" sz="2400" dirty="0" smtClean="0">
                <a:solidFill>
                  <a:schemeClr val="tx1"/>
                </a:solidFill>
                <a:latin typeface="Times New Roman" panose="02020603050405020304" pitchFamily="18" charset="0"/>
                <a:cs typeface="Times New Roman" panose="02020603050405020304" pitchFamily="18" charset="0"/>
              </a:rPr>
              <a:t>Необходимые </a:t>
            </a:r>
            <a:r>
              <a:rPr lang="ru-RU" sz="2400" dirty="0">
                <a:solidFill>
                  <a:schemeClr val="tx1"/>
                </a:solidFill>
                <a:latin typeface="Times New Roman" panose="02020603050405020304" pitchFamily="18" charset="0"/>
                <a:cs typeface="Times New Roman" panose="02020603050405020304" pitchFamily="18" charset="0"/>
              </a:rPr>
              <a:t>цели: </a:t>
            </a:r>
          </a:p>
          <a:p>
            <a:pPr lvl="0"/>
            <a:r>
              <a:rPr lang="ru-RU" sz="2400" dirty="0">
                <a:solidFill>
                  <a:schemeClr val="tx1"/>
                </a:solidFill>
                <a:latin typeface="Times New Roman" panose="02020603050405020304" pitchFamily="18" charset="0"/>
                <a:cs typeface="Times New Roman" panose="02020603050405020304" pitchFamily="18" charset="0"/>
              </a:rPr>
              <a:t>Проведение тотальной профориентации </a:t>
            </a:r>
            <a:r>
              <a:rPr lang="ru-RU" sz="2400" dirty="0" smtClean="0">
                <a:solidFill>
                  <a:schemeClr val="tx1"/>
                </a:solidFill>
                <a:latin typeface="Times New Roman" panose="02020603050405020304" pitchFamily="18" charset="0"/>
                <a:cs typeface="Times New Roman" panose="02020603050405020304" pitchFamily="18" charset="0"/>
              </a:rPr>
              <a:t>преподавателей;</a:t>
            </a:r>
            <a:endParaRPr lang="ru-RU" sz="2400" dirty="0">
              <a:solidFill>
                <a:schemeClr val="tx1"/>
              </a:solidFill>
              <a:latin typeface="Times New Roman" panose="02020603050405020304" pitchFamily="18" charset="0"/>
              <a:cs typeface="Times New Roman" panose="02020603050405020304" pitchFamily="18" charset="0"/>
            </a:endParaRPr>
          </a:p>
          <a:p>
            <a:pPr lvl="0"/>
            <a:r>
              <a:rPr lang="ru-RU" sz="2400" dirty="0">
                <a:solidFill>
                  <a:schemeClr val="tx1"/>
                </a:solidFill>
                <a:latin typeface="Times New Roman" panose="02020603050405020304" pitchFamily="18" charset="0"/>
                <a:cs typeface="Times New Roman" panose="02020603050405020304" pitchFamily="18" charset="0"/>
              </a:rPr>
              <a:t>Составление нового учебного </a:t>
            </a:r>
            <a:r>
              <a:rPr lang="ru-RU" sz="2400" dirty="0" smtClean="0">
                <a:solidFill>
                  <a:schemeClr val="tx1"/>
                </a:solidFill>
                <a:latin typeface="Times New Roman" panose="02020603050405020304" pitchFamily="18" charset="0"/>
                <a:cs typeface="Times New Roman" panose="02020603050405020304" pitchFamily="18" charset="0"/>
              </a:rPr>
              <a:t>плана</a:t>
            </a:r>
            <a:r>
              <a:rPr lang="ru-RU" sz="2400" dirty="0">
                <a:solidFill>
                  <a:schemeClr val="tx1"/>
                </a:solidFill>
                <a:latin typeface="Times New Roman" panose="02020603050405020304" pitchFamily="18" charset="0"/>
                <a:cs typeface="Times New Roman" panose="02020603050405020304" pitchFamily="18" charset="0"/>
              </a:rPr>
              <a:t>;</a:t>
            </a:r>
          </a:p>
          <a:p>
            <a:pPr lvl="0"/>
            <a:r>
              <a:rPr lang="ru-RU" sz="2400" dirty="0">
                <a:solidFill>
                  <a:schemeClr val="tx1"/>
                </a:solidFill>
                <a:latin typeface="Times New Roman" panose="02020603050405020304" pitchFamily="18" charset="0"/>
                <a:cs typeface="Times New Roman" panose="02020603050405020304" pitchFamily="18" charset="0"/>
              </a:rPr>
              <a:t>Создание электронного </a:t>
            </a:r>
            <a:r>
              <a:rPr lang="ru-RU" sz="2400" dirty="0" smtClean="0">
                <a:solidFill>
                  <a:schemeClr val="tx1"/>
                </a:solidFill>
                <a:latin typeface="Times New Roman" panose="02020603050405020304" pitchFamily="18" charset="0"/>
                <a:cs typeface="Times New Roman" panose="02020603050405020304" pitchFamily="18" charset="0"/>
              </a:rPr>
              <a:t>архива.</a:t>
            </a:r>
            <a:endParaRPr lang="ru-RU" sz="2400" dirty="0">
              <a:solidFill>
                <a:schemeClr val="tx1"/>
              </a:solidFill>
              <a:latin typeface="Times New Roman" panose="02020603050405020304" pitchFamily="18" charset="0"/>
              <a:cs typeface="Times New Roman" panose="02020603050405020304" pitchFamily="18" charset="0"/>
            </a:endParaRPr>
          </a:p>
          <a:p>
            <a:pPr marL="0" indent="0">
              <a:buNone/>
            </a:pPr>
            <a:r>
              <a:rPr lang="ru-RU" sz="2400" dirty="0">
                <a:solidFill>
                  <a:schemeClr val="tx1"/>
                </a:solidFill>
                <a:latin typeface="Times New Roman" panose="02020603050405020304" pitchFamily="18" charset="0"/>
                <a:cs typeface="Times New Roman" panose="02020603050405020304" pitchFamily="18" charset="0"/>
              </a:rPr>
              <a:t>Желаемые цели:</a:t>
            </a:r>
          </a:p>
          <a:p>
            <a:pPr lvl="0"/>
            <a:r>
              <a:rPr lang="ru-RU" sz="2400" dirty="0">
                <a:solidFill>
                  <a:schemeClr val="tx1"/>
                </a:solidFill>
                <a:latin typeface="Times New Roman" panose="02020603050405020304" pitchFamily="18" charset="0"/>
                <a:cs typeface="Times New Roman" panose="02020603050405020304" pitchFamily="18" charset="0"/>
              </a:rPr>
              <a:t>Повышение рейтинга ВУЗа;</a:t>
            </a:r>
          </a:p>
          <a:p>
            <a:pPr lvl="0"/>
            <a:r>
              <a:rPr lang="ru-RU" sz="2400" dirty="0">
                <a:solidFill>
                  <a:schemeClr val="tx1"/>
                </a:solidFill>
                <a:latin typeface="Times New Roman" panose="02020603050405020304" pitchFamily="18" charset="0"/>
                <a:cs typeface="Times New Roman" panose="02020603050405020304" pitchFamily="18" charset="0"/>
              </a:rPr>
              <a:t>Повышение качества образования;</a:t>
            </a:r>
          </a:p>
          <a:p>
            <a:pPr lvl="0"/>
            <a:r>
              <a:rPr lang="ru-RU" sz="2400" dirty="0">
                <a:solidFill>
                  <a:schemeClr val="tx1"/>
                </a:solidFill>
                <a:latin typeface="Times New Roman" panose="02020603050405020304" pitchFamily="18" charset="0"/>
                <a:cs typeface="Times New Roman" panose="02020603050405020304" pitchFamily="18" charset="0"/>
              </a:rPr>
              <a:t>Успешный результат проекта может дать начало реформе образования и последующему национальному </a:t>
            </a:r>
            <a:r>
              <a:rPr lang="ru-RU" sz="2400" dirty="0" smtClean="0">
                <a:solidFill>
                  <a:schemeClr val="tx1"/>
                </a:solidFill>
                <a:latin typeface="Times New Roman" panose="02020603050405020304" pitchFamily="18" charset="0"/>
                <a:cs typeface="Times New Roman" panose="02020603050405020304" pitchFamily="18" charset="0"/>
              </a:rPr>
              <a:t>проекту.</a:t>
            </a:r>
            <a:endParaRPr lang="ru-RU" sz="2400" dirty="0">
              <a:solidFill>
                <a:schemeClr val="tx1"/>
              </a:solidFill>
              <a:latin typeface="Times New Roman" panose="02020603050405020304" pitchFamily="18" charset="0"/>
              <a:cs typeface="Times New Roman" panose="02020603050405020304" pitchFamily="18" charset="0"/>
            </a:endParaRPr>
          </a:p>
          <a:p>
            <a:endParaRPr lang="ru-RU" sz="3200" dirty="0"/>
          </a:p>
        </p:txBody>
      </p:sp>
    </p:spTree>
    <p:extLst>
      <p:ext uri="{BB962C8B-B14F-4D97-AF65-F5344CB8AC3E}">
        <p14:creationId xmlns:p14="http://schemas.microsoft.com/office/powerpoint/2010/main" val="983901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99770"/>
            <a:ext cx="12192000" cy="1200727"/>
          </a:xfrm>
        </p:spPr>
        <p:txBody>
          <a:bodyPr>
            <a:normAutofit/>
          </a:bodyPr>
          <a:lstStyle/>
          <a:p>
            <a:pPr algn="ctr"/>
            <a:r>
              <a:rPr lang="ru-RU" sz="3600" b="1" dirty="0" smtClean="0">
                <a:latin typeface="Times New Roman" panose="02020603050405020304" pitchFamily="18" charset="0"/>
                <a:cs typeface="Times New Roman" panose="02020603050405020304" pitchFamily="18" charset="0"/>
              </a:rPr>
              <a:t>Что изменится</a:t>
            </a:r>
            <a:endParaRPr lang="ru-RU" sz="36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0" y="1200727"/>
            <a:ext cx="11977352" cy="5657273"/>
          </a:xfrm>
        </p:spPr>
        <p:txBody>
          <a:bodyPr>
            <a:normAutofit/>
          </a:bodyPr>
          <a:lstStyle/>
          <a:p>
            <a:pPr marL="0" indent="0" algn="just" fontAlgn="base">
              <a:buNone/>
            </a:pPr>
            <a:r>
              <a:rPr lang="ru-RU" dirty="0">
                <a:latin typeface="Times New Roman" panose="02020603050405020304" pitchFamily="18" charset="0"/>
                <a:cs typeface="Times New Roman" panose="02020603050405020304" pitchFamily="18" charset="0"/>
              </a:rPr>
              <a:t>	</a:t>
            </a:r>
          </a:p>
        </p:txBody>
      </p:sp>
      <p:pic>
        <p:nvPicPr>
          <p:cNvPr id="3074" name="Picture 2" descr="http://www.nica.ru/Media/Default/images/IMG_3967-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0614" y="4082949"/>
            <a:ext cx="3304282" cy="241653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3076" name="Picture 4" descr="https://pravorub.ru/upload/content/2020/02/03/ca6ec7b8f05e329efd35aa951308b7d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1228" y="1180690"/>
            <a:ext cx="3304282" cy="25063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3078" name="Picture 6" descr="https://pronedra.ru/wp-content/uploads/2021/01/studenty-4.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96899" y="1181892"/>
            <a:ext cx="3427047" cy="25063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pic>
        <p:nvPicPr>
          <p:cNvPr id="3080" name="Picture 8" descr="https://images.squarespace-cdn.com/content/v1/54412118e4b03de3b6796773/1588320567137-3EM4Q84HFB098YY54IPR/ke17ZwdGBToddI8pDm48kCMfhBEzuSg-Wo6uIjQWxbBZw-zPPgdn4jUwVcJE1ZvWQUxwkmyExglNqGp0IvTJZamWLI2zvYWH8K3-s_4yszcp2ryTI0HqTOaaUohrI8PI91g7rrnjUp7AiAkw4xD5ew7netRLkbcSaA5m0sivpcMKMshLAGzx4R3EDFOm1kBS/again-dvoika.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85510" y="4029363"/>
            <a:ext cx="3427047" cy="252567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
        <p:nvSpPr>
          <p:cNvPr id="8" name="Прямоугольник 7"/>
          <p:cNvSpPr/>
          <p:nvPr/>
        </p:nvSpPr>
        <p:spPr>
          <a:xfrm rot="19912521">
            <a:off x="1900538" y="1115969"/>
            <a:ext cx="2654342" cy="874674"/>
          </a:xfrm>
          <a:prstGeom prst="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smtClean="0">
                <a:solidFill>
                  <a:schemeClr val="bg1"/>
                </a:solidFill>
                <a:latin typeface="Times New Roman" panose="02020603050405020304" pitchFamily="18" charset="0"/>
                <a:cs typeface="Times New Roman" panose="02020603050405020304" pitchFamily="18" charset="0"/>
              </a:rPr>
              <a:t>Упразднение бумажного архива</a:t>
            </a:r>
            <a:endParaRPr lang="ru-RU" sz="2000" dirty="0">
              <a:solidFill>
                <a:schemeClr val="bg1"/>
              </a:solidFill>
              <a:latin typeface="Times New Roman" panose="02020603050405020304" pitchFamily="18" charset="0"/>
              <a:cs typeface="Times New Roman" panose="02020603050405020304" pitchFamily="18" charset="0"/>
            </a:endParaRPr>
          </a:p>
        </p:txBody>
      </p:sp>
      <p:sp>
        <p:nvSpPr>
          <p:cNvPr id="11" name="Прямоугольник 10"/>
          <p:cNvSpPr/>
          <p:nvPr/>
        </p:nvSpPr>
        <p:spPr>
          <a:xfrm rot="19982149">
            <a:off x="557298" y="3965656"/>
            <a:ext cx="2654342" cy="874674"/>
          </a:xfrm>
          <a:prstGeom prst="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smtClean="0">
                <a:solidFill>
                  <a:schemeClr val="bg1"/>
                </a:solidFill>
                <a:latin typeface="Times New Roman" panose="02020603050405020304" pitchFamily="18" charset="0"/>
                <a:cs typeface="Times New Roman" panose="02020603050405020304" pitchFamily="18" charset="0"/>
              </a:rPr>
              <a:t>Внесение корректировок в кадровый лист</a:t>
            </a:r>
            <a:endParaRPr lang="ru-RU" sz="2000" dirty="0">
              <a:solidFill>
                <a:schemeClr val="bg1"/>
              </a:solidFill>
              <a:latin typeface="Times New Roman" panose="02020603050405020304" pitchFamily="18" charset="0"/>
              <a:cs typeface="Times New Roman" panose="02020603050405020304" pitchFamily="18" charset="0"/>
            </a:endParaRPr>
          </a:p>
        </p:txBody>
      </p:sp>
      <p:sp>
        <p:nvSpPr>
          <p:cNvPr id="12" name="Прямоугольник 11"/>
          <p:cNvSpPr/>
          <p:nvPr/>
        </p:nvSpPr>
        <p:spPr>
          <a:xfrm rot="19982149">
            <a:off x="5060874" y="3752297"/>
            <a:ext cx="2654342" cy="874674"/>
          </a:xfrm>
          <a:prstGeom prst="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smtClean="0">
                <a:solidFill>
                  <a:schemeClr val="bg1"/>
                </a:solidFill>
                <a:latin typeface="Times New Roman" panose="02020603050405020304" pitchFamily="18" charset="0"/>
                <a:cs typeface="Times New Roman" panose="02020603050405020304" pitchFamily="18" charset="0"/>
              </a:rPr>
              <a:t>Корректировка списка учащихся</a:t>
            </a:r>
            <a:endParaRPr lang="ru-RU" sz="2000" dirty="0">
              <a:solidFill>
                <a:schemeClr val="bg1"/>
              </a:solidFill>
              <a:latin typeface="Times New Roman" panose="02020603050405020304" pitchFamily="18" charset="0"/>
              <a:cs typeface="Times New Roman" panose="02020603050405020304" pitchFamily="18" charset="0"/>
            </a:endParaRPr>
          </a:p>
        </p:txBody>
      </p:sp>
      <p:sp>
        <p:nvSpPr>
          <p:cNvPr id="13" name="Прямоугольник 12"/>
          <p:cNvSpPr/>
          <p:nvPr/>
        </p:nvSpPr>
        <p:spPr>
          <a:xfrm rot="19982149">
            <a:off x="6740672" y="1104547"/>
            <a:ext cx="2654342" cy="874674"/>
          </a:xfrm>
          <a:prstGeom prst="rect">
            <a:avLst/>
          </a:prstGeom>
          <a:solidFill>
            <a:schemeClr val="tx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smtClean="0">
                <a:solidFill>
                  <a:schemeClr val="bg1"/>
                </a:solidFill>
                <a:latin typeface="Times New Roman" panose="02020603050405020304" pitchFamily="18" charset="0"/>
                <a:cs typeface="Times New Roman" panose="02020603050405020304" pitchFamily="18" charset="0"/>
              </a:rPr>
              <a:t>Новая система образования</a:t>
            </a:r>
            <a:endParaRPr lang="ru-RU"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5620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12192000" cy="979055"/>
          </a:xfrm>
        </p:spPr>
        <p:txBody>
          <a:bodyPr>
            <a:normAutofit/>
          </a:bodyPr>
          <a:lstStyle/>
          <a:p>
            <a:pPr algn="ctr"/>
            <a:r>
              <a:rPr lang="ru-RU" sz="3600" b="1" dirty="0" smtClean="0">
                <a:latin typeface="Times New Roman" panose="02020603050405020304" pitchFamily="18" charset="0"/>
                <a:cs typeface="Times New Roman" panose="02020603050405020304" pitchFamily="18" charset="0"/>
              </a:rPr>
              <a:t>Движение денежных средств</a:t>
            </a:r>
            <a:endParaRPr lang="ru-RU" sz="36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283335" y="979055"/>
            <a:ext cx="5085008" cy="5492838"/>
          </a:xfrm>
        </p:spPr>
        <p:txBody>
          <a:bodyPr>
            <a:normAutofit/>
          </a:bodyPr>
          <a:lstStyle/>
          <a:p>
            <a:pPr marL="0" indent="0">
              <a:buNone/>
            </a:pPr>
            <a:endParaRPr lang="ru-RU" dirty="0"/>
          </a:p>
          <a:p>
            <a:pPr marL="0" indent="0">
              <a:buNone/>
            </a:pPr>
            <a:endParaRPr lang="ru-RU"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rotWithShape="1">
          <a:blip r:embed="rId2"/>
          <a:srcRect l="120"/>
          <a:stretch/>
        </p:blipFill>
        <p:spPr>
          <a:xfrm>
            <a:off x="888274" y="866058"/>
            <a:ext cx="10149840" cy="5718833"/>
          </a:xfrm>
          <a:prstGeom prst="rect">
            <a:avLst/>
          </a:prstGeom>
        </p:spPr>
      </p:pic>
    </p:spTree>
    <p:extLst>
      <p:ext uri="{BB962C8B-B14F-4D97-AF65-F5344CB8AC3E}">
        <p14:creationId xmlns:p14="http://schemas.microsoft.com/office/powerpoint/2010/main" val="1305937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14400" y="0"/>
            <a:ext cx="10515600" cy="1325563"/>
          </a:xfrm>
        </p:spPr>
        <p:txBody>
          <a:bodyPr>
            <a:normAutofit/>
          </a:bodyPr>
          <a:lstStyle/>
          <a:p>
            <a:pPr algn="ctr"/>
            <a:r>
              <a:rPr lang="ru-RU" sz="3600" b="1" dirty="0" smtClean="0">
                <a:latin typeface="Times New Roman" panose="02020603050405020304" pitchFamily="18" charset="0"/>
                <a:cs typeface="Times New Roman" panose="02020603050405020304" pitchFamily="18" charset="0"/>
              </a:rPr>
              <a:t>Длительность проекта</a:t>
            </a:r>
            <a:endParaRPr lang="ru-RU" sz="3600" b="1" dirty="0">
              <a:latin typeface="Times New Roman" panose="02020603050405020304" pitchFamily="18" charset="0"/>
              <a:cs typeface="Times New Roman" panose="02020603050405020304" pitchFamily="18" charset="0"/>
            </a:endParaRPr>
          </a:p>
        </p:txBody>
      </p:sp>
      <p:graphicFrame>
        <p:nvGraphicFramePr>
          <p:cNvPr id="6" name="Объект 5"/>
          <p:cNvGraphicFramePr>
            <a:graphicFrameLocks noGrp="1"/>
          </p:cNvGraphicFramePr>
          <p:nvPr>
            <p:ph idx="1"/>
            <p:extLst>
              <p:ext uri="{D42A27DB-BD31-4B8C-83A1-F6EECF244321}">
                <p14:modId xmlns:p14="http://schemas.microsoft.com/office/powerpoint/2010/main" val="4224289362"/>
              </p:ext>
            </p:extLst>
          </p:nvPr>
        </p:nvGraphicFramePr>
        <p:xfrm>
          <a:off x="914400" y="3776912"/>
          <a:ext cx="10300198" cy="1892368"/>
        </p:xfrm>
        <a:graphic>
          <a:graphicData uri="http://schemas.openxmlformats.org/drawingml/2006/table">
            <a:tbl>
              <a:tblPr/>
              <a:tblGrid>
                <a:gridCol w="6110750">
                  <a:extLst>
                    <a:ext uri="{9D8B030D-6E8A-4147-A177-3AD203B41FA5}">
                      <a16:colId xmlns:a16="http://schemas.microsoft.com/office/drawing/2014/main" val="3598136801"/>
                    </a:ext>
                  </a:extLst>
                </a:gridCol>
                <a:gridCol w="1507733">
                  <a:extLst>
                    <a:ext uri="{9D8B030D-6E8A-4147-A177-3AD203B41FA5}">
                      <a16:colId xmlns:a16="http://schemas.microsoft.com/office/drawing/2014/main" val="219678089"/>
                    </a:ext>
                  </a:extLst>
                </a:gridCol>
                <a:gridCol w="1174084">
                  <a:extLst>
                    <a:ext uri="{9D8B030D-6E8A-4147-A177-3AD203B41FA5}">
                      <a16:colId xmlns:a16="http://schemas.microsoft.com/office/drawing/2014/main" val="3069350240"/>
                    </a:ext>
                  </a:extLst>
                </a:gridCol>
                <a:gridCol w="1507631">
                  <a:extLst>
                    <a:ext uri="{9D8B030D-6E8A-4147-A177-3AD203B41FA5}">
                      <a16:colId xmlns:a16="http://schemas.microsoft.com/office/drawing/2014/main" val="2844540261"/>
                    </a:ext>
                  </a:extLst>
                </a:gridCol>
              </a:tblGrid>
              <a:tr h="864792">
                <a:tc>
                  <a:txBody>
                    <a:bodyPr/>
                    <a:lstStyle/>
                    <a:p>
                      <a:r>
                        <a:rPr lang="ru-RU" sz="1400" dirty="0" smtClean="0">
                          <a:solidFill>
                            <a:schemeClr val="bg1"/>
                          </a:solidFill>
                          <a:effectLst/>
                          <a:latin typeface="Times New Roman" panose="02020603050405020304" pitchFamily="18" charset="0"/>
                          <a:cs typeface="Times New Roman" panose="02020603050405020304" pitchFamily="18" charset="0"/>
                        </a:rPr>
                        <a:t>Название</a:t>
                      </a:r>
                      <a:r>
                        <a:rPr lang="ru-RU" sz="1400" baseline="0" dirty="0" smtClean="0">
                          <a:solidFill>
                            <a:schemeClr val="bg1"/>
                          </a:solidFill>
                          <a:effectLst/>
                          <a:latin typeface="Times New Roman" panose="02020603050405020304" pitchFamily="18" charset="0"/>
                          <a:cs typeface="Times New Roman" panose="02020603050405020304" pitchFamily="18" charset="0"/>
                        </a:rPr>
                        <a:t> задачи</a:t>
                      </a:r>
                      <a:endParaRPr lang="ru-RU" sz="1400" dirty="0">
                        <a:solidFill>
                          <a:schemeClr val="bg1"/>
                        </a:solidFill>
                        <a:effectLst/>
                        <a:latin typeface="Times New Roman" panose="02020603050405020304" pitchFamily="18" charset="0"/>
                        <a:cs typeface="Times New Roman" panose="02020603050405020304" pitchFamily="18" charset="0"/>
                      </a:endParaRPr>
                    </a:p>
                  </a:txBody>
                  <a:tcPr marL="9525" marR="9525" marT="9525" marB="9525" anchor="ctr">
                    <a:lnL w="6350" cap="flat" cmpd="sng" algn="ctr">
                      <a:solidFill>
                        <a:srgbClr val="B1BBCC"/>
                      </a:solidFill>
                      <a:prstDash val="solid"/>
                      <a:round/>
                      <a:headEnd type="none" w="med" len="med"/>
                      <a:tailEnd type="none" w="med" len="med"/>
                    </a:lnL>
                    <a:lnR w="6350" cap="flat" cmpd="sng" algn="ctr">
                      <a:solidFill>
                        <a:srgbClr val="B1BBCC"/>
                      </a:solidFill>
                      <a:prstDash val="solid"/>
                      <a:round/>
                      <a:headEnd type="none" w="med" len="med"/>
                      <a:tailEnd type="none" w="med" len="med"/>
                    </a:lnR>
                    <a:lnT w="6350" cap="flat" cmpd="sng" algn="ctr">
                      <a:solidFill>
                        <a:srgbClr val="B1BBCC"/>
                      </a:solidFill>
                      <a:prstDash val="solid"/>
                      <a:round/>
                      <a:headEnd type="none" w="med" len="med"/>
                      <a:tailEnd type="none" w="med" len="med"/>
                    </a:lnT>
                    <a:lnB w="6350" cap="flat" cmpd="sng" algn="ctr">
                      <a:solidFill>
                        <a:srgbClr val="B1BBCC"/>
                      </a:solidFill>
                      <a:prstDash val="solid"/>
                      <a:round/>
                      <a:headEnd type="none" w="med" len="med"/>
                      <a:tailEnd type="none" w="med" len="med"/>
                    </a:lnB>
                    <a:solidFill>
                      <a:srgbClr val="DFE3E8"/>
                    </a:solidFill>
                  </a:tcPr>
                </a:tc>
                <a:tc>
                  <a:txBody>
                    <a:bodyPr/>
                    <a:lstStyle/>
                    <a:p>
                      <a:r>
                        <a:rPr lang="ru-RU" sz="1400" dirty="0">
                          <a:solidFill>
                            <a:schemeClr val="bg1"/>
                          </a:solidFill>
                          <a:effectLst/>
                          <a:latin typeface="Times New Roman" panose="02020603050405020304" pitchFamily="18" charset="0"/>
                          <a:cs typeface="Times New Roman" panose="02020603050405020304" pitchFamily="18" charset="0"/>
                        </a:rPr>
                        <a:t>Длительность</a:t>
                      </a:r>
                    </a:p>
                  </a:txBody>
                  <a:tcPr marL="9525" marR="9525" marT="9525" marB="9525" anchor="ctr">
                    <a:lnL w="6350" cap="flat" cmpd="sng" algn="ctr">
                      <a:solidFill>
                        <a:srgbClr val="B1BBCC"/>
                      </a:solidFill>
                      <a:prstDash val="solid"/>
                      <a:round/>
                      <a:headEnd type="none" w="med" len="med"/>
                      <a:tailEnd type="none" w="med" len="med"/>
                    </a:lnL>
                    <a:lnR w="6350" cap="flat" cmpd="sng" algn="ctr">
                      <a:solidFill>
                        <a:srgbClr val="B1BBCC"/>
                      </a:solidFill>
                      <a:prstDash val="solid"/>
                      <a:round/>
                      <a:headEnd type="none" w="med" len="med"/>
                      <a:tailEnd type="none" w="med" len="med"/>
                    </a:lnR>
                    <a:lnT w="6350" cap="flat" cmpd="sng" algn="ctr">
                      <a:solidFill>
                        <a:srgbClr val="B1BBCC"/>
                      </a:solidFill>
                      <a:prstDash val="solid"/>
                      <a:round/>
                      <a:headEnd type="none" w="med" len="med"/>
                      <a:tailEnd type="none" w="med" len="med"/>
                    </a:lnT>
                    <a:lnB w="6350" cap="flat" cmpd="sng" algn="ctr">
                      <a:solidFill>
                        <a:srgbClr val="B1BBCC"/>
                      </a:solidFill>
                      <a:prstDash val="solid"/>
                      <a:round/>
                      <a:headEnd type="none" w="med" len="med"/>
                      <a:tailEnd type="none" w="med" len="med"/>
                    </a:lnB>
                    <a:solidFill>
                      <a:srgbClr val="DFE3E8"/>
                    </a:solidFill>
                  </a:tcPr>
                </a:tc>
                <a:tc>
                  <a:txBody>
                    <a:bodyPr/>
                    <a:lstStyle/>
                    <a:p>
                      <a:r>
                        <a:rPr lang="ru-RU" sz="1400">
                          <a:solidFill>
                            <a:schemeClr val="bg1"/>
                          </a:solidFill>
                          <a:effectLst/>
                          <a:latin typeface="Times New Roman" panose="02020603050405020304" pitchFamily="18" charset="0"/>
                          <a:cs typeface="Times New Roman" panose="02020603050405020304" pitchFamily="18" charset="0"/>
                        </a:rPr>
                        <a:t>Начало</a:t>
                      </a:r>
                    </a:p>
                  </a:txBody>
                  <a:tcPr marL="9525" marR="9525" marT="9525" marB="9525" anchor="ctr">
                    <a:lnL w="6350" cap="flat" cmpd="sng" algn="ctr">
                      <a:solidFill>
                        <a:srgbClr val="B1BBCC"/>
                      </a:solidFill>
                      <a:prstDash val="solid"/>
                      <a:round/>
                      <a:headEnd type="none" w="med" len="med"/>
                      <a:tailEnd type="none" w="med" len="med"/>
                    </a:lnL>
                    <a:lnR w="6350" cap="flat" cmpd="sng" algn="ctr">
                      <a:solidFill>
                        <a:srgbClr val="B1BBCC"/>
                      </a:solidFill>
                      <a:prstDash val="solid"/>
                      <a:round/>
                      <a:headEnd type="none" w="med" len="med"/>
                      <a:tailEnd type="none" w="med" len="med"/>
                    </a:lnR>
                    <a:lnT w="6350" cap="flat" cmpd="sng" algn="ctr">
                      <a:solidFill>
                        <a:srgbClr val="B1BBCC"/>
                      </a:solidFill>
                      <a:prstDash val="solid"/>
                      <a:round/>
                      <a:headEnd type="none" w="med" len="med"/>
                      <a:tailEnd type="none" w="med" len="med"/>
                    </a:lnT>
                    <a:lnB w="6350" cap="flat" cmpd="sng" algn="ctr">
                      <a:solidFill>
                        <a:srgbClr val="B1BBCC"/>
                      </a:solidFill>
                      <a:prstDash val="solid"/>
                      <a:round/>
                      <a:headEnd type="none" w="med" len="med"/>
                      <a:tailEnd type="none" w="med" len="med"/>
                    </a:lnB>
                    <a:solidFill>
                      <a:srgbClr val="DFE3E8"/>
                    </a:solidFill>
                  </a:tcPr>
                </a:tc>
                <a:tc>
                  <a:txBody>
                    <a:bodyPr/>
                    <a:lstStyle/>
                    <a:p>
                      <a:r>
                        <a:rPr lang="ru-RU" sz="1400" dirty="0">
                          <a:solidFill>
                            <a:schemeClr val="bg1"/>
                          </a:solidFill>
                          <a:effectLst/>
                          <a:latin typeface="Times New Roman" panose="02020603050405020304" pitchFamily="18" charset="0"/>
                          <a:cs typeface="Times New Roman" panose="02020603050405020304" pitchFamily="18" charset="0"/>
                        </a:rPr>
                        <a:t>Окончание</a:t>
                      </a:r>
                    </a:p>
                  </a:txBody>
                  <a:tcPr marL="9525" marR="9525" marT="9525" marB="9525" anchor="ctr">
                    <a:lnL w="6350" cap="flat" cmpd="sng" algn="ctr">
                      <a:solidFill>
                        <a:srgbClr val="B1BBCC"/>
                      </a:solidFill>
                      <a:prstDash val="solid"/>
                      <a:round/>
                      <a:headEnd type="none" w="med" len="med"/>
                      <a:tailEnd type="none" w="med" len="med"/>
                    </a:lnL>
                    <a:lnR w="6350" cap="flat" cmpd="sng" algn="ctr">
                      <a:solidFill>
                        <a:srgbClr val="B1BBCC"/>
                      </a:solidFill>
                      <a:prstDash val="solid"/>
                      <a:round/>
                      <a:headEnd type="none" w="med" len="med"/>
                      <a:tailEnd type="none" w="med" len="med"/>
                    </a:lnR>
                    <a:lnT w="6350" cap="flat" cmpd="sng" algn="ctr">
                      <a:solidFill>
                        <a:srgbClr val="B1BBCC"/>
                      </a:solidFill>
                      <a:prstDash val="solid"/>
                      <a:round/>
                      <a:headEnd type="none" w="med" len="med"/>
                      <a:tailEnd type="none" w="med" len="med"/>
                    </a:lnT>
                    <a:lnB w="6350" cap="flat" cmpd="sng" algn="ctr">
                      <a:solidFill>
                        <a:srgbClr val="B1BBCC"/>
                      </a:solidFill>
                      <a:prstDash val="solid"/>
                      <a:round/>
                      <a:headEnd type="none" w="med" len="med"/>
                      <a:tailEnd type="none" w="med" len="med"/>
                    </a:lnB>
                    <a:solidFill>
                      <a:srgbClr val="DFE3E8"/>
                    </a:solidFill>
                  </a:tcPr>
                </a:tc>
                <a:extLst>
                  <a:ext uri="{0D108BD9-81ED-4DB2-BD59-A6C34878D82A}">
                    <a16:rowId xmlns:a16="http://schemas.microsoft.com/office/drawing/2014/main" val="1015794955"/>
                  </a:ext>
                </a:extLst>
              </a:tr>
              <a:tr h="1027576">
                <a:tc>
                  <a:txBody>
                    <a:bodyPr/>
                    <a:lstStyle/>
                    <a:p>
                      <a:r>
                        <a:rPr lang="ru-RU" sz="1400" b="1" dirty="0">
                          <a:solidFill>
                            <a:schemeClr val="bg1"/>
                          </a:solidFill>
                          <a:effectLst/>
                          <a:latin typeface="Times New Roman" panose="02020603050405020304" pitchFamily="18" charset="0"/>
                          <a:cs typeface="Times New Roman" panose="02020603050405020304" pitchFamily="18" charset="0"/>
                        </a:rPr>
                        <a:t>Усовершенствование системы успеваемости техникума</a:t>
                      </a:r>
                      <a:endParaRPr lang="ru-RU" sz="1400" dirty="0">
                        <a:solidFill>
                          <a:schemeClr val="bg1"/>
                        </a:solidFill>
                        <a:effectLst/>
                        <a:latin typeface="Times New Roman" panose="02020603050405020304" pitchFamily="18" charset="0"/>
                        <a:cs typeface="Times New Roman" panose="02020603050405020304" pitchFamily="18" charset="0"/>
                      </a:endParaRPr>
                    </a:p>
                  </a:txBody>
                  <a:tcPr marL="9525" marR="9525" marT="9525" marB="9525" anchor="ctr">
                    <a:lnL w="6350" cap="flat" cmpd="sng" algn="ctr">
                      <a:solidFill>
                        <a:srgbClr val="B1BBCC"/>
                      </a:solidFill>
                      <a:prstDash val="solid"/>
                      <a:round/>
                      <a:headEnd type="none" w="med" len="med"/>
                      <a:tailEnd type="none" w="med" len="med"/>
                    </a:lnL>
                    <a:lnR w="6350" cap="flat" cmpd="sng" algn="ctr">
                      <a:solidFill>
                        <a:srgbClr val="B1BBCC"/>
                      </a:solidFill>
                      <a:prstDash val="solid"/>
                      <a:round/>
                      <a:headEnd type="none" w="med" len="med"/>
                      <a:tailEnd type="none" w="med" len="med"/>
                    </a:lnR>
                    <a:lnT w="6350" cap="flat" cmpd="sng" algn="ctr">
                      <a:solidFill>
                        <a:srgbClr val="B1BBCC"/>
                      </a:solidFill>
                      <a:prstDash val="solid"/>
                      <a:round/>
                      <a:headEnd type="none" w="med" len="med"/>
                      <a:tailEnd type="none" w="med" len="med"/>
                    </a:lnT>
                    <a:lnB w="6350" cap="flat" cmpd="sng" algn="ctr">
                      <a:solidFill>
                        <a:srgbClr val="B1BBCC"/>
                      </a:solidFill>
                      <a:prstDash val="solid"/>
                      <a:round/>
                      <a:headEnd type="none" w="med" len="med"/>
                      <a:tailEnd type="none" w="med" len="med"/>
                    </a:lnB>
                    <a:solidFill>
                      <a:srgbClr val="FFFFFF"/>
                    </a:solidFill>
                  </a:tcPr>
                </a:tc>
                <a:tc>
                  <a:txBody>
                    <a:bodyPr/>
                    <a:lstStyle/>
                    <a:p>
                      <a:r>
                        <a:rPr lang="ru-RU" sz="1400" b="1">
                          <a:solidFill>
                            <a:schemeClr val="bg1"/>
                          </a:solidFill>
                          <a:effectLst/>
                          <a:latin typeface="Times New Roman" panose="02020603050405020304" pitchFamily="18" charset="0"/>
                          <a:cs typeface="Times New Roman" panose="02020603050405020304" pitchFamily="18" charset="0"/>
                        </a:rPr>
                        <a:t>84,75 дней</a:t>
                      </a:r>
                      <a:endParaRPr lang="ru-RU" sz="1400">
                        <a:solidFill>
                          <a:schemeClr val="bg1"/>
                        </a:solidFill>
                        <a:effectLst/>
                        <a:latin typeface="Times New Roman" panose="02020603050405020304" pitchFamily="18" charset="0"/>
                        <a:cs typeface="Times New Roman" panose="02020603050405020304" pitchFamily="18" charset="0"/>
                      </a:endParaRPr>
                    </a:p>
                  </a:txBody>
                  <a:tcPr marL="9525" marR="9525" marT="9525" marB="9525" anchor="ctr">
                    <a:lnL w="6350" cap="flat" cmpd="sng" algn="ctr">
                      <a:solidFill>
                        <a:srgbClr val="B1BBCC"/>
                      </a:solidFill>
                      <a:prstDash val="solid"/>
                      <a:round/>
                      <a:headEnd type="none" w="med" len="med"/>
                      <a:tailEnd type="none" w="med" len="med"/>
                    </a:lnL>
                    <a:lnR w="6350" cap="flat" cmpd="sng" algn="ctr">
                      <a:solidFill>
                        <a:srgbClr val="B1BBCC"/>
                      </a:solidFill>
                      <a:prstDash val="solid"/>
                      <a:round/>
                      <a:headEnd type="none" w="med" len="med"/>
                      <a:tailEnd type="none" w="med" len="med"/>
                    </a:lnR>
                    <a:lnT w="6350" cap="flat" cmpd="sng" algn="ctr">
                      <a:solidFill>
                        <a:srgbClr val="B1BBCC"/>
                      </a:solidFill>
                      <a:prstDash val="solid"/>
                      <a:round/>
                      <a:headEnd type="none" w="med" len="med"/>
                      <a:tailEnd type="none" w="med" len="med"/>
                    </a:lnT>
                    <a:lnB w="6350" cap="flat" cmpd="sng" algn="ctr">
                      <a:solidFill>
                        <a:srgbClr val="B1BBCC"/>
                      </a:solidFill>
                      <a:prstDash val="solid"/>
                      <a:round/>
                      <a:headEnd type="none" w="med" len="med"/>
                      <a:tailEnd type="none" w="med" len="med"/>
                    </a:lnB>
                    <a:solidFill>
                      <a:srgbClr val="FFFFFF"/>
                    </a:solidFill>
                  </a:tcPr>
                </a:tc>
                <a:tc>
                  <a:txBody>
                    <a:bodyPr/>
                    <a:lstStyle/>
                    <a:p>
                      <a:r>
                        <a:rPr lang="ru-RU" sz="1400" b="1" dirty="0">
                          <a:solidFill>
                            <a:schemeClr val="bg1"/>
                          </a:solidFill>
                          <a:effectLst/>
                          <a:latin typeface="Times New Roman" panose="02020603050405020304" pitchFamily="18" charset="0"/>
                          <a:cs typeface="Times New Roman" panose="02020603050405020304" pitchFamily="18" charset="0"/>
                        </a:rPr>
                        <a:t>Ср 01.09.21</a:t>
                      </a:r>
                      <a:endParaRPr lang="ru-RU" sz="1400" dirty="0">
                        <a:solidFill>
                          <a:schemeClr val="bg1"/>
                        </a:solidFill>
                        <a:effectLst/>
                        <a:latin typeface="Times New Roman" panose="02020603050405020304" pitchFamily="18" charset="0"/>
                        <a:cs typeface="Times New Roman" panose="02020603050405020304" pitchFamily="18" charset="0"/>
                      </a:endParaRPr>
                    </a:p>
                  </a:txBody>
                  <a:tcPr marL="9525" marR="9525" marT="9525" marB="9525" anchor="ctr">
                    <a:lnL w="6350" cap="flat" cmpd="sng" algn="ctr">
                      <a:solidFill>
                        <a:srgbClr val="B1BBCC"/>
                      </a:solidFill>
                      <a:prstDash val="solid"/>
                      <a:round/>
                      <a:headEnd type="none" w="med" len="med"/>
                      <a:tailEnd type="none" w="med" len="med"/>
                    </a:lnL>
                    <a:lnR w="6350" cap="flat" cmpd="sng" algn="ctr">
                      <a:solidFill>
                        <a:srgbClr val="B1BBCC"/>
                      </a:solidFill>
                      <a:prstDash val="solid"/>
                      <a:round/>
                      <a:headEnd type="none" w="med" len="med"/>
                      <a:tailEnd type="none" w="med" len="med"/>
                    </a:lnR>
                    <a:lnT w="6350" cap="flat" cmpd="sng" algn="ctr">
                      <a:solidFill>
                        <a:srgbClr val="B1BBCC"/>
                      </a:solidFill>
                      <a:prstDash val="solid"/>
                      <a:round/>
                      <a:headEnd type="none" w="med" len="med"/>
                      <a:tailEnd type="none" w="med" len="med"/>
                    </a:lnT>
                    <a:lnB w="6350" cap="flat" cmpd="sng" algn="ctr">
                      <a:solidFill>
                        <a:srgbClr val="B1BBCC"/>
                      </a:solidFill>
                      <a:prstDash val="solid"/>
                      <a:round/>
                      <a:headEnd type="none" w="med" len="med"/>
                      <a:tailEnd type="none" w="med" len="med"/>
                    </a:lnB>
                    <a:solidFill>
                      <a:srgbClr val="FFFFFF"/>
                    </a:solidFill>
                  </a:tcPr>
                </a:tc>
                <a:tc>
                  <a:txBody>
                    <a:bodyPr/>
                    <a:lstStyle/>
                    <a:p>
                      <a:r>
                        <a:rPr lang="ru-RU" sz="1400" b="1" dirty="0">
                          <a:solidFill>
                            <a:schemeClr val="bg1"/>
                          </a:solidFill>
                          <a:effectLst/>
                          <a:latin typeface="Times New Roman" panose="02020603050405020304" pitchFamily="18" charset="0"/>
                          <a:cs typeface="Times New Roman" panose="02020603050405020304" pitchFamily="18" charset="0"/>
                        </a:rPr>
                        <a:t>Ср 29.12.21</a:t>
                      </a:r>
                      <a:endParaRPr lang="ru-RU" sz="1400" dirty="0">
                        <a:solidFill>
                          <a:schemeClr val="bg1"/>
                        </a:solidFill>
                        <a:effectLst/>
                        <a:latin typeface="Times New Roman" panose="02020603050405020304" pitchFamily="18" charset="0"/>
                        <a:cs typeface="Times New Roman" panose="02020603050405020304" pitchFamily="18" charset="0"/>
                      </a:endParaRPr>
                    </a:p>
                  </a:txBody>
                  <a:tcPr marL="9525" marR="9525" marT="9525" marB="9525" anchor="ctr">
                    <a:lnL w="6350" cap="flat" cmpd="sng" algn="ctr">
                      <a:solidFill>
                        <a:srgbClr val="B1BBCC"/>
                      </a:solidFill>
                      <a:prstDash val="solid"/>
                      <a:round/>
                      <a:headEnd type="none" w="med" len="med"/>
                      <a:tailEnd type="none" w="med" len="med"/>
                    </a:lnL>
                    <a:lnR w="6350" cap="flat" cmpd="sng" algn="ctr">
                      <a:solidFill>
                        <a:srgbClr val="B1BBCC"/>
                      </a:solidFill>
                      <a:prstDash val="solid"/>
                      <a:round/>
                      <a:headEnd type="none" w="med" len="med"/>
                      <a:tailEnd type="none" w="med" len="med"/>
                    </a:lnR>
                    <a:lnT w="6350" cap="flat" cmpd="sng" algn="ctr">
                      <a:solidFill>
                        <a:srgbClr val="B1BBCC"/>
                      </a:solidFill>
                      <a:prstDash val="solid"/>
                      <a:round/>
                      <a:headEnd type="none" w="med" len="med"/>
                      <a:tailEnd type="none" w="med" len="med"/>
                    </a:lnT>
                    <a:lnB w="6350" cap="flat" cmpd="sng" algn="ctr">
                      <a:solidFill>
                        <a:srgbClr val="B1BBCC"/>
                      </a:solidFill>
                      <a:prstDash val="solid"/>
                      <a:round/>
                      <a:headEnd type="none" w="med" len="med"/>
                      <a:tailEnd type="none" w="med" len="med"/>
                    </a:lnB>
                    <a:solidFill>
                      <a:srgbClr val="FFFFFF"/>
                    </a:solidFill>
                  </a:tcPr>
                </a:tc>
                <a:extLst>
                  <a:ext uri="{0D108BD9-81ED-4DB2-BD59-A6C34878D82A}">
                    <a16:rowId xmlns:a16="http://schemas.microsoft.com/office/drawing/2014/main" val="4081407486"/>
                  </a:ext>
                </a:extLst>
              </a:tr>
            </a:tbl>
          </a:graphicData>
        </a:graphic>
      </p:graphicFrame>
      <p:sp>
        <p:nvSpPr>
          <p:cNvPr id="7" name="Прямоугольник 6"/>
          <p:cNvSpPr/>
          <p:nvPr/>
        </p:nvSpPr>
        <p:spPr>
          <a:xfrm>
            <a:off x="914400" y="1325562"/>
            <a:ext cx="10300198" cy="2246769"/>
          </a:xfrm>
          <a:prstGeom prst="rect">
            <a:avLst/>
          </a:prstGeom>
        </p:spPr>
        <p:txBody>
          <a:bodyPr wrap="square">
            <a:spAutoFit/>
          </a:bodyPr>
          <a:lstStyle/>
          <a:p>
            <a:pPr algn="just"/>
            <a:r>
              <a:rPr lang="ru-RU" sz="2800" spc="15" dirty="0">
                <a:latin typeface="Times New Roman" panose="02020603050405020304" pitchFamily="18" charset="0"/>
                <a:ea typeface="Calibri" panose="020F0502020204030204" pitchFamily="34" charset="0"/>
              </a:rPr>
              <a:t>Данный проект будет начинаться в начале сентября, </a:t>
            </a:r>
            <a:r>
              <a:rPr lang="ru-RU" sz="2800" spc="15" dirty="0" smtClean="0">
                <a:latin typeface="Times New Roman" panose="02020603050405020304" pitchFamily="18" charset="0"/>
                <a:ea typeface="Calibri" panose="020F0502020204030204" pitchFamily="34" charset="0"/>
              </a:rPr>
              <a:t>и будет длиться до </a:t>
            </a:r>
            <a:r>
              <a:rPr lang="ru-RU" sz="2800" spc="15" dirty="0">
                <a:latin typeface="Times New Roman" panose="02020603050405020304" pitchFamily="18" charset="0"/>
                <a:ea typeface="Calibri" panose="020F0502020204030204" pitchFamily="34" charset="0"/>
              </a:rPr>
              <a:t>конца зимней сессии. Выбор осуществлен тем, что к концу зимней сессии станет возможно собрать результаты работы новой системы и принять решение о дальнейшем развитии проекта. </a:t>
            </a:r>
            <a:endParaRPr lang="ru-RU" sz="2800" dirty="0"/>
          </a:p>
        </p:txBody>
      </p:sp>
    </p:spTree>
    <p:extLst>
      <p:ext uri="{BB962C8B-B14F-4D97-AF65-F5344CB8AC3E}">
        <p14:creationId xmlns:p14="http://schemas.microsoft.com/office/powerpoint/2010/main" val="2870838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12192000" cy="1325563"/>
          </a:xfrm>
        </p:spPr>
        <p:txBody>
          <a:bodyPr>
            <a:normAutofit/>
          </a:bodyPr>
          <a:lstStyle/>
          <a:p>
            <a:pPr algn="ctr"/>
            <a:r>
              <a:rPr lang="ru-RU" sz="3600" b="1" dirty="0">
                <a:latin typeface="Times New Roman" panose="02020603050405020304" pitchFamily="18" charset="0"/>
                <a:cs typeface="Times New Roman" panose="02020603050405020304" pitchFamily="18" charset="0"/>
              </a:rPr>
              <a:t>Этапы </a:t>
            </a:r>
            <a:r>
              <a:rPr lang="ru-RU" sz="3600" b="1" dirty="0" smtClean="0">
                <a:latin typeface="Times New Roman" panose="02020603050405020304" pitchFamily="18" charset="0"/>
                <a:cs typeface="Times New Roman" panose="02020603050405020304" pitchFamily="18" charset="0"/>
              </a:rPr>
              <a:t>основного проекта</a:t>
            </a:r>
            <a:endParaRPr lang="ru-RU" sz="36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p:txBody>
          <a:bodyPr/>
          <a:lstStyle/>
          <a:p>
            <a:endParaRPr lang="ru-RU"/>
          </a:p>
        </p:txBody>
      </p:sp>
      <p:pic>
        <p:nvPicPr>
          <p:cNvPr id="4" name="Рисунок 3"/>
          <p:cNvPicPr>
            <a:picLocks noChangeAspect="1"/>
          </p:cNvPicPr>
          <p:nvPr/>
        </p:nvPicPr>
        <p:blipFill>
          <a:blip r:embed="rId2"/>
          <a:stretch>
            <a:fillRect/>
          </a:stretch>
        </p:blipFill>
        <p:spPr>
          <a:xfrm>
            <a:off x="724571" y="1825625"/>
            <a:ext cx="10742858" cy="3305495"/>
          </a:xfrm>
          <a:prstGeom prst="rect">
            <a:avLst/>
          </a:prstGeom>
        </p:spPr>
      </p:pic>
    </p:spTree>
    <p:extLst>
      <p:ext uri="{BB962C8B-B14F-4D97-AF65-F5344CB8AC3E}">
        <p14:creationId xmlns:p14="http://schemas.microsoft.com/office/powerpoint/2010/main" val="3007111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828799" y="0"/>
            <a:ext cx="8534400" cy="1507067"/>
          </a:xfrm>
        </p:spPr>
        <p:txBody>
          <a:bodyPr/>
          <a:lstStyle/>
          <a:p>
            <a:pPr algn="ctr"/>
            <a:r>
              <a:rPr lang="ru-RU" b="1" dirty="0">
                <a:latin typeface="Times New Roman" panose="02020603050405020304" pitchFamily="18" charset="0"/>
                <a:cs typeface="Times New Roman" panose="02020603050405020304" pitchFamily="18" charset="0"/>
              </a:rPr>
              <a:t>Этапы </a:t>
            </a:r>
            <a:r>
              <a:rPr lang="ru-RU" b="1" dirty="0" smtClean="0">
                <a:latin typeface="Times New Roman" panose="02020603050405020304" pitchFamily="18" charset="0"/>
                <a:cs typeface="Times New Roman" panose="02020603050405020304" pitchFamily="18" charset="0"/>
              </a:rPr>
              <a:t>проекта качества</a:t>
            </a:r>
            <a:endParaRPr lang="ru-RU" dirty="0"/>
          </a:p>
        </p:txBody>
      </p:sp>
      <p:pic>
        <p:nvPicPr>
          <p:cNvPr id="4" name="Объект 3"/>
          <p:cNvPicPr>
            <a:picLocks noGrp="1" noChangeAspect="1"/>
          </p:cNvPicPr>
          <p:nvPr>
            <p:ph idx="1"/>
          </p:nvPr>
        </p:nvPicPr>
        <p:blipFill>
          <a:blip r:embed="rId2"/>
          <a:stretch>
            <a:fillRect/>
          </a:stretch>
        </p:blipFill>
        <p:spPr>
          <a:xfrm>
            <a:off x="591094" y="1552931"/>
            <a:ext cx="11009811" cy="3771317"/>
          </a:xfrm>
          <a:prstGeom prst="rect">
            <a:avLst/>
          </a:prstGeom>
        </p:spPr>
      </p:pic>
    </p:spTree>
    <p:extLst>
      <p:ext uri="{BB962C8B-B14F-4D97-AF65-F5344CB8AC3E}">
        <p14:creationId xmlns:p14="http://schemas.microsoft.com/office/powerpoint/2010/main" val="5325501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624737" y="-137814"/>
            <a:ext cx="8534400" cy="1507067"/>
          </a:xfrm>
        </p:spPr>
        <p:txBody>
          <a:bodyPr/>
          <a:lstStyle/>
          <a:p>
            <a:pPr algn="ctr"/>
            <a:r>
              <a:rPr lang="ru-RU" b="1" dirty="0" smtClean="0">
                <a:latin typeface="Times New Roman" panose="02020603050405020304" pitchFamily="18" charset="0"/>
                <a:cs typeface="Times New Roman" panose="02020603050405020304" pitchFamily="18" charset="0"/>
              </a:rPr>
              <a:t>Заключение</a:t>
            </a:r>
            <a:endParaRPr lang="ru-RU" dirty="0"/>
          </a:p>
        </p:txBody>
      </p:sp>
      <p:pic>
        <p:nvPicPr>
          <p:cNvPr id="4" name="Объект 3"/>
          <p:cNvPicPr>
            <a:picLocks noGrp="1"/>
          </p:cNvPicPr>
          <p:nvPr>
            <p:ph idx="1"/>
          </p:nvPr>
        </p:nvPicPr>
        <p:blipFill rotWithShape="1">
          <a:blip r:embed="rId2"/>
          <a:srcRect l="3335" t="14784" r="5950" b="1160"/>
          <a:stretch/>
        </p:blipFill>
        <p:spPr>
          <a:xfrm>
            <a:off x="1047206" y="1117634"/>
            <a:ext cx="4073434" cy="277167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Рисунок 4"/>
          <p:cNvPicPr/>
          <p:nvPr/>
        </p:nvPicPr>
        <p:blipFill rotWithShape="1">
          <a:blip r:embed="rId3"/>
          <a:srcRect l="3456" t="9361" r="4848"/>
          <a:stretch/>
        </p:blipFill>
        <p:spPr>
          <a:xfrm>
            <a:off x="5891937" y="1422899"/>
            <a:ext cx="4127864" cy="268023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Рисунок 5"/>
          <p:cNvPicPr/>
          <p:nvPr/>
        </p:nvPicPr>
        <p:blipFill rotWithShape="1">
          <a:blip r:embed="rId4"/>
          <a:srcRect l="35472" t="65670" r="33704"/>
          <a:stretch/>
        </p:blipFill>
        <p:spPr>
          <a:xfrm>
            <a:off x="2965268" y="4316958"/>
            <a:ext cx="3749040" cy="22172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4098647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3012" y="0"/>
            <a:ext cx="8534400" cy="1507067"/>
          </a:xfrm>
        </p:spPr>
        <p:txBody>
          <a:bodyPr/>
          <a:lstStyle/>
          <a:p>
            <a:pPr algn="ctr"/>
            <a:r>
              <a:rPr lang="ru-RU" b="1" dirty="0" smtClean="0">
                <a:latin typeface="Times New Roman" panose="02020603050405020304" pitchFamily="18" charset="0"/>
                <a:cs typeface="Times New Roman" panose="02020603050405020304" pitchFamily="18" charset="0"/>
              </a:rPr>
              <a:t>Спасибо за внимание</a:t>
            </a:r>
            <a:endParaRPr lang="ru-RU" dirty="0"/>
          </a:p>
        </p:txBody>
      </p:sp>
      <p:sp>
        <p:nvSpPr>
          <p:cNvPr id="3" name="Объект 2"/>
          <p:cNvSpPr>
            <a:spLocks noGrp="1"/>
          </p:cNvSpPr>
          <p:nvPr>
            <p:ph idx="1"/>
          </p:nvPr>
        </p:nvSpPr>
        <p:spPr/>
        <p:txBody>
          <a:bodyPr/>
          <a:lstStyle/>
          <a:p>
            <a:endParaRPr lang="ru-RU" dirty="0"/>
          </a:p>
        </p:txBody>
      </p:sp>
    </p:spTree>
    <p:extLst>
      <p:ext uri="{BB962C8B-B14F-4D97-AF65-F5344CB8AC3E}">
        <p14:creationId xmlns:p14="http://schemas.microsoft.com/office/powerpoint/2010/main" val="3328070061"/>
      </p:ext>
    </p:extLst>
  </p:cSld>
  <p:clrMapOvr>
    <a:masterClrMapping/>
  </p:clrMapOvr>
  <p:timing>
    <p:tnLst>
      <p:par>
        <p:cTn id="1" dur="indefinite" restart="never" nodeType="tmRoot"/>
      </p:par>
    </p:tnLst>
  </p:timing>
</p:sld>
</file>

<file path=ppt/theme/theme1.xml><?xml version="1.0" encoding="utf-8"?>
<a:theme xmlns:a="http://schemas.openxmlformats.org/drawingml/2006/main" name="Сектор">
  <a:themeElements>
    <a:clrScheme name="Сектор">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Сектор">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Сектор">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327</TotalTime>
  <Words>182</Words>
  <Application>Microsoft Office PowerPoint</Application>
  <PresentationFormat>Широкоэкранный</PresentationFormat>
  <Paragraphs>54</Paragraphs>
  <Slides>13</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13</vt:i4>
      </vt:variant>
    </vt:vector>
  </HeadingPairs>
  <TitlesOfParts>
    <vt:vector size="18" baseType="lpstr">
      <vt:lpstr>Calibri</vt:lpstr>
      <vt:lpstr>Century Gothic</vt:lpstr>
      <vt:lpstr>Times New Roman</vt:lpstr>
      <vt:lpstr>Wingdings 3</vt:lpstr>
      <vt:lpstr>Сектор</vt:lpstr>
      <vt:lpstr> Министерство науки и высшего образования Российской Федерации Федеральное государственное бюджетное образовательное учреждение высшего образования «Российский экономический университет имени Г.В. Плеханова» МОСКОВСКИЙ ПРИБОРОСТРОИТЕЛЬНЫЙ ТЕХНИКУМ   Презентация Курсовой проект ПМ 04 «Обеспечение проектной деятельности» МДК 04.01 «Обеспечение проектной деятельности»   Тема: «Разработка проекта «Усовершенствование системы успеваемости студентов техникума»»</vt:lpstr>
      <vt:lpstr>Проблемная ситуация</vt:lpstr>
      <vt:lpstr>Глобальные проблемы</vt:lpstr>
      <vt:lpstr>Из чего складывается успеваемость студентов?</vt:lpstr>
      <vt:lpstr>Статистика ВУЗов</vt:lpstr>
      <vt:lpstr>Цели проекта</vt:lpstr>
      <vt:lpstr>Что изменится</vt:lpstr>
      <vt:lpstr>Движение денежных средств</vt:lpstr>
      <vt:lpstr>Длительность проекта</vt:lpstr>
      <vt:lpstr>Этапы основного проекта</vt:lpstr>
      <vt:lpstr>Этапы проекта качества</vt:lpstr>
      <vt:lpstr>Заключение</vt:lpstr>
      <vt:lpstr>Спасибо за внимание</vt:lpstr>
    </vt:vector>
  </TitlesOfParts>
  <Company>diakov.net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Курсовой проект  Разработка проекта оснащения средствами защиты служебных помещений техникума от несанкционированного доступа</dc:title>
  <dc:creator>1</dc:creator>
  <cp:lastModifiedBy>Темченко Денис</cp:lastModifiedBy>
  <cp:revision>81</cp:revision>
  <dcterms:created xsi:type="dcterms:W3CDTF">2021-04-02T22:36:34Z</dcterms:created>
  <dcterms:modified xsi:type="dcterms:W3CDTF">2021-04-05T12:51:41Z</dcterms:modified>
</cp:coreProperties>
</file>